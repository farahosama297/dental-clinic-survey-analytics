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43"/>
  </p:notesMasterIdLst>
  <p:handoutMasterIdLst>
    <p:handoutMasterId r:id="rId44"/>
  </p:handoutMasterIdLst>
  <p:sldIdLst>
    <p:sldId id="350" r:id="rId5"/>
    <p:sldId id="282" r:id="rId6"/>
    <p:sldId id="315" r:id="rId7"/>
    <p:sldId id="316" r:id="rId8"/>
    <p:sldId id="317" r:id="rId9"/>
    <p:sldId id="318" r:id="rId10"/>
    <p:sldId id="319" r:id="rId11"/>
    <p:sldId id="320" r:id="rId12"/>
    <p:sldId id="321" r:id="rId13"/>
    <p:sldId id="322" r:id="rId14"/>
    <p:sldId id="323" r:id="rId15"/>
    <p:sldId id="324" r:id="rId16"/>
    <p:sldId id="325" r:id="rId17"/>
    <p:sldId id="329" r:id="rId18"/>
    <p:sldId id="326" r:id="rId19"/>
    <p:sldId id="327" r:id="rId20"/>
    <p:sldId id="328" r:id="rId21"/>
    <p:sldId id="330" r:id="rId22"/>
    <p:sldId id="331" r:id="rId23"/>
    <p:sldId id="332" r:id="rId24"/>
    <p:sldId id="348" r:id="rId25"/>
    <p:sldId id="333" r:id="rId26"/>
    <p:sldId id="352" r:id="rId27"/>
    <p:sldId id="335" r:id="rId28"/>
    <p:sldId id="354" r:id="rId29"/>
    <p:sldId id="351" r:id="rId30"/>
    <p:sldId id="337" r:id="rId31"/>
    <p:sldId id="338" r:id="rId32"/>
    <p:sldId id="339" r:id="rId33"/>
    <p:sldId id="340" r:id="rId34"/>
    <p:sldId id="341" r:id="rId35"/>
    <p:sldId id="342" r:id="rId36"/>
    <p:sldId id="343" r:id="rId37"/>
    <p:sldId id="344" r:id="rId38"/>
    <p:sldId id="345" r:id="rId39"/>
    <p:sldId id="346" r:id="rId40"/>
    <p:sldId id="347" r:id="rId41"/>
    <p:sldId id="349" r:id="rId4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88" autoAdjust="0"/>
  </p:normalViewPr>
  <p:slideViewPr>
    <p:cSldViewPr snapToGrid="0" snapToObjects="1">
      <p:cViewPr varScale="1">
        <p:scale>
          <a:sx n="65" d="100"/>
          <a:sy n="65" d="100"/>
        </p:scale>
        <p:origin x="936" y="7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AEAD6-3675-0A9F-9509-3E0B741AA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25C26-38FF-E8F5-5E1C-628B38E96FE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F7E4008-1E57-7A0D-1BB7-B6B2C3EC89D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94665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693AB-F997-1A0C-0CBB-CA3796740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82834-33D5-EC48-2D3C-2C14BCD4E22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10100F-95BA-0A64-B514-8EAD2A95A68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2806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0256C-F69C-04F4-8598-77F9D1296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4E764-2C48-4BC8-1701-70834995F9E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4FA0B53-D1B0-DA79-96B1-4249FEC5EE9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95960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EF213-F59F-F113-1230-751F95779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9840A-CDDD-43D1-D5A5-DEE1B4D5496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E78FEF8-EEEE-5FB2-D54F-FE9C9E6922F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37048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163E-86EE-5627-0FD2-A862D0969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891EF-F539-0D0A-5F8A-D520DE2D370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0C5AEF1-28D0-ABB0-5E4B-34F33543615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04565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6CB2-A22D-96BD-7C19-1FBEAC393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70B73-1093-CEED-A898-6F3B20D19A3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1FA8A45-E11E-E717-8D61-68B6D5AF531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97151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1660F-B3CB-6E45-C42A-CA12C93E5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AF852-6128-B9D3-C4B0-6BCEE2AB184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DC7315D-DE30-C714-1824-49EED86BBC8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97913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68B10-9AE6-1E4B-4FB0-C9E1A08BE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F7F35-003B-2B92-2946-35F0547855D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AA46A4B-CC2C-3210-5B90-E91333C078D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11630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E816A-B221-8D40-EEA7-CA9A8C10D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C3EBB-ED17-8E73-FF79-006D88EF07B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A3245DE-08D4-69E0-8581-BC59E2BECC2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99778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295AC-7FFF-9718-5261-D78A5F48F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9A1B8-FF21-4E79-52F3-D669DC31A50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CA49323-D6AE-68DE-8374-C7C6F253173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64383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B170A-C2E4-443F-7410-16B355390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9E8F9-BC45-CDC6-9830-0FBAE87E254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264F4E5-E06A-BF20-2B61-48A32AAEA9D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18769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7FEC-5651-56FD-4146-DF7E1FC4F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BC581-AB19-3CCD-CC0C-01140119F0A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46E5147-7D0D-6D58-0348-FF43C7EEA66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93192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2387-1F64-0176-6DEB-1173FF3F9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6546E-93D0-A945-1CFC-85DAA770C7B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139DEDB-F357-41F8-B2B0-A569080F9DB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90438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FA78C-8D71-17FF-D255-2D1C002C1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4B372-8A8B-9A86-BAA7-81280779062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E1062E-B2D9-2B4A-D8F7-9AF1AA18132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38185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6B79-24AA-1C6C-4DBD-E4BC8264C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3ECED-FEEE-C170-A71E-4ADE576069A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1DB0B08-D401-F449-0231-0EA018C6F32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65173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2D705-4447-042E-CDE8-3081209D8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A00A2-63D3-E96D-EFA5-5E3023BFA84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B4E63E8-E9D4-D3F0-C373-5B8A1FC3970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75504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30F0-2EB3-5FEE-15EC-4B8068B13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1AD1F-5C88-1DF0-88F2-50703ACC887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9973B8E-E80C-C044-31B5-4F09F45F429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1612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17E2-AE7A-680B-3473-B540D01CF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171EC-9582-3873-B64F-9F8F1E760B5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A244EA9-AFEE-FD51-65C1-D0353E02907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49411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014DC-EA3A-1110-5979-30D56A23E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49C5-A9CB-BC53-8252-B5EC16CEF8F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17F7E24-5CBC-ECEB-466F-89A1C7035FC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125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3E3A1-CBD3-B34A-8381-EF846AE2F87B}"/>
              </a:ext>
            </a:extLst>
          </p:cNvPr>
          <p:cNvSpPr>
            <a:spLocks noGrp="1"/>
          </p:cNvSpPr>
          <p:nvPr>
            <p:ph type="title"/>
          </p:nvPr>
        </p:nvSpPr>
        <p:spPr>
          <a:xfrm>
            <a:off x="2349641" y="1149759"/>
            <a:ext cx="7234625" cy="4739104"/>
          </a:xfrm>
        </p:spPr>
        <p:txBody>
          <a:bodyPr/>
          <a:lstStyle/>
          <a:p>
            <a:pPr algn="ctr"/>
            <a:r>
              <a:rPr lang="en-US" sz="5400" dirty="0"/>
              <a:t>Basic </a:t>
            </a:r>
            <a:br>
              <a:rPr lang="en-US" sz="5400" dirty="0"/>
            </a:br>
            <a:r>
              <a:rPr lang="en-US" sz="5400" dirty="0"/>
              <a:t>presentation</a:t>
            </a:r>
          </a:p>
        </p:txBody>
      </p:sp>
    </p:spTree>
    <p:extLst>
      <p:ext uri="{BB962C8B-B14F-4D97-AF65-F5344CB8AC3E}">
        <p14:creationId xmlns:p14="http://schemas.microsoft.com/office/powerpoint/2010/main" val="188197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1428313"/>
          </a:xfrm>
        </p:spPr>
        <p:txBody>
          <a:bodyPr/>
          <a:lstStyle/>
          <a:p>
            <a:r>
              <a:rPr lang="ar-EG" dirty="0"/>
              <a:t>1</a:t>
            </a:r>
            <a:r>
              <a:rPr lang="en-US" dirty="0"/>
              <a:t>-drop duplication</a:t>
            </a:r>
            <a:endParaRPr lang="ar-EG" dirty="0"/>
          </a:p>
          <a:p>
            <a:r>
              <a:rPr lang="ar-EG" dirty="0"/>
              <a:t>2</a:t>
            </a:r>
            <a:r>
              <a:rPr lang="en-US" dirty="0"/>
              <a:t>-translate each Arabic value to English value</a:t>
            </a:r>
          </a:p>
          <a:p>
            <a:r>
              <a:rPr lang="en-US" dirty="0"/>
              <a:t>3-remove noise and un valid values</a:t>
            </a:r>
          </a:p>
          <a:p>
            <a:endParaRPr lang="en-US" dirty="0"/>
          </a:p>
        </p:txBody>
      </p:sp>
      <p:sp>
        <p:nvSpPr>
          <p:cNvPr id="5" name="Title 4">
            <a:extLst>
              <a:ext uri="{FF2B5EF4-FFF2-40B4-BE49-F238E27FC236}">
                <a16:creationId xmlns:a16="http://schemas.microsoft.com/office/drawing/2014/main" id="{FAF943DC-744F-7535-65F9-3939011A464B}"/>
              </a:ext>
            </a:extLst>
          </p:cNvPr>
          <p:cNvSpPr>
            <a:spLocks noGrp="1"/>
          </p:cNvSpPr>
          <p:nvPr>
            <p:ph type="title"/>
          </p:nvPr>
        </p:nvSpPr>
        <p:spPr/>
        <p:txBody>
          <a:bodyPr/>
          <a:lstStyle/>
          <a:p>
            <a:r>
              <a:rPr lang="en-US" dirty="0"/>
              <a:t>First the data cleaning</a:t>
            </a:r>
          </a:p>
        </p:txBody>
      </p:sp>
      <p:sp>
        <p:nvSpPr>
          <p:cNvPr id="8" name="Content Placeholder 2">
            <a:extLst>
              <a:ext uri="{FF2B5EF4-FFF2-40B4-BE49-F238E27FC236}">
                <a16:creationId xmlns:a16="http://schemas.microsoft.com/office/drawing/2014/main" id="{852D7261-A432-3D06-51FA-E6FD02DB6CD7}"/>
              </a:ext>
            </a:extLst>
          </p:cNvPr>
          <p:cNvSpPr txBox="1">
            <a:spLocks/>
          </p:cNvSpPr>
          <p:nvPr/>
        </p:nvSpPr>
        <p:spPr>
          <a:xfrm>
            <a:off x="3612965" y="4662573"/>
            <a:ext cx="7965460" cy="1428313"/>
          </a:xfrm>
          <a:prstGeom prst="rect">
            <a:avLst/>
          </a:prstGeom>
        </p:spPr>
        <p:txBody>
          <a:bodyPr vert="horz" lIns="91440" tIns="0" rIns="91440" bIns="0" rtlCol="0">
            <a:normAutofit/>
          </a:bodyPr>
          <a:lstStyle>
            <a:lvl1pPr marL="347472"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1pPr>
            <a:lvl2pPr marL="6858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11430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Slide Number Placeholder 1">
            <a:extLst>
              <a:ext uri="{FF2B5EF4-FFF2-40B4-BE49-F238E27FC236}">
                <a16:creationId xmlns:a16="http://schemas.microsoft.com/office/drawing/2014/main" id="{AF90CC01-5475-89CF-FEA3-F08357A39F65}"/>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7C3A-7EA0-DC88-3FC2-762413EFBE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813161-ED2D-EE19-8426-784EB2AF0F26}"/>
              </a:ext>
            </a:extLst>
          </p:cNvPr>
          <p:cNvSpPr>
            <a:spLocks noGrp="1"/>
          </p:cNvSpPr>
          <p:nvPr>
            <p:ph sz="half" idx="2"/>
          </p:nvPr>
        </p:nvSpPr>
        <p:spPr>
          <a:xfrm>
            <a:off x="3460565" y="2303029"/>
            <a:ext cx="7965460" cy="3497698"/>
          </a:xfrm>
        </p:spPr>
        <p:txBody>
          <a:bodyPr/>
          <a:lstStyle/>
          <a:p>
            <a:r>
              <a:rPr lang="en-US" b="1" dirty="0"/>
              <a:t>Values of descriptive statistics for each question</a:t>
            </a:r>
          </a:p>
          <a:p>
            <a:endParaRPr lang="en-US" b="1" dirty="0"/>
          </a:p>
        </p:txBody>
      </p:sp>
      <p:sp>
        <p:nvSpPr>
          <p:cNvPr id="6" name="Title 4">
            <a:extLst>
              <a:ext uri="{FF2B5EF4-FFF2-40B4-BE49-F238E27FC236}">
                <a16:creationId xmlns:a16="http://schemas.microsoft.com/office/drawing/2014/main" id="{9D166072-02BD-9F83-E6DC-512EC692888F}"/>
              </a:ext>
            </a:extLst>
          </p:cNvPr>
          <p:cNvSpPr txBox="1">
            <a:spLocks noGrp="1"/>
          </p:cNvSpPr>
          <p:nvPr>
            <p:ph type="title"/>
          </p:nvPr>
        </p:nvSpPr>
        <p:spPr>
          <a:xfrm>
            <a:off x="3460750" y="1057275"/>
            <a:ext cx="7964488" cy="993775"/>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Arial" panose="020B0604020202020204" pitchFamily="34" charset="0"/>
              </a:defRPr>
            </a:lvl1pPr>
          </a:lstStyle>
          <a:p>
            <a:r>
              <a:rPr lang="en-US" dirty="0"/>
              <a:t>Now the data is cleaned</a:t>
            </a:r>
          </a:p>
        </p:txBody>
      </p:sp>
      <p:graphicFrame>
        <p:nvGraphicFramePr>
          <p:cNvPr id="7" name="Table 6">
            <a:extLst>
              <a:ext uri="{FF2B5EF4-FFF2-40B4-BE49-F238E27FC236}">
                <a16:creationId xmlns:a16="http://schemas.microsoft.com/office/drawing/2014/main" id="{9FC9B44A-F7A7-B5E9-77EF-0F243AB4E388}"/>
              </a:ext>
            </a:extLst>
          </p:cNvPr>
          <p:cNvGraphicFramePr>
            <a:graphicFrameLocks noGrp="1"/>
          </p:cNvGraphicFramePr>
          <p:nvPr>
            <p:extLst>
              <p:ext uri="{D42A27DB-BD31-4B8C-83A1-F6EECF244321}">
                <p14:modId xmlns:p14="http://schemas.microsoft.com/office/powerpoint/2010/main" val="1778842000"/>
              </p:ext>
            </p:extLst>
          </p:nvPr>
        </p:nvGraphicFramePr>
        <p:xfrm>
          <a:off x="3573529" y="2753414"/>
          <a:ext cx="7738929"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180019">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interior design and decorations of this dental practice appeal to my visual sense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0.786484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2" name="Slide Number Placeholder 1">
            <a:extLst>
              <a:ext uri="{FF2B5EF4-FFF2-40B4-BE49-F238E27FC236}">
                <a16:creationId xmlns:a16="http://schemas.microsoft.com/office/drawing/2014/main" id="{A5F25072-E7C0-EC20-AFB7-8E72492F61AB}"/>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848741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287AB-8CBB-B256-7A0C-3CEFBF894BD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C632D60-D889-08E0-BECA-4B311D264542}"/>
              </a:ext>
            </a:extLst>
          </p:cNvPr>
          <p:cNvGraphicFramePr>
            <a:graphicFrameLocks noGrp="1"/>
          </p:cNvGraphicFramePr>
          <p:nvPr>
            <p:extLst>
              <p:ext uri="{D42A27DB-BD31-4B8C-83A1-F6EECF244321}">
                <p14:modId xmlns:p14="http://schemas.microsoft.com/office/powerpoint/2010/main" val="94399778"/>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odors of this dental practice appeal to my smell sense.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3.846939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0.988094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0D748D82-A9D1-63EA-3904-0F202420B7DD}"/>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1284399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C057D-00A2-A971-C7CA-F80D8F63868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422DD10-219B-444C-1415-80BFC906E26E}"/>
              </a:ext>
            </a:extLst>
          </p:cNvPr>
          <p:cNvGraphicFramePr>
            <a:graphicFrameLocks noGrp="1"/>
          </p:cNvGraphicFramePr>
          <p:nvPr>
            <p:extLst>
              <p:ext uri="{D42A27DB-BD31-4B8C-83A1-F6EECF244321}">
                <p14:modId xmlns:p14="http://schemas.microsoft.com/office/powerpoint/2010/main" val="1461865747"/>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find this dental practice interesting in a sensory way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3.632653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0.791550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BBFF32F2-8F33-470F-35E8-285C6743EE04}"/>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2926408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0624B-C3B6-3B74-4451-09F1980D4F7C}"/>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2706FB4-29E8-34E2-90A1-DC77F17167BE}"/>
              </a:ext>
            </a:extLst>
          </p:cNvPr>
          <p:cNvGraphicFramePr>
            <a:graphicFrameLocks noGrp="1"/>
          </p:cNvGraphicFramePr>
          <p:nvPr>
            <p:extLst>
              <p:ext uri="{D42A27DB-BD31-4B8C-83A1-F6EECF244321}">
                <p14:modId xmlns:p14="http://schemas.microsoft.com/office/powerpoint/2010/main" val="989639025"/>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sympathetic attitude of the staff creates a strong emotional attachment to this practice.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4.030612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1.107184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5</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D8BE062F-EAAE-8462-AA1F-0641696CF63C}"/>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58866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139D-E755-1133-5D33-1E3730A6FE52}"/>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F0AC3D9-7395-8766-82DA-C5A85CE28E3F}"/>
              </a:ext>
            </a:extLst>
          </p:cNvPr>
          <p:cNvGraphicFramePr>
            <a:graphicFrameLocks noGrp="1"/>
          </p:cNvGraphicFramePr>
          <p:nvPr>
            <p:extLst>
              <p:ext uri="{D42A27DB-BD31-4B8C-83A1-F6EECF244321}">
                <p14:modId xmlns:p14="http://schemas.microsoft.com/office/powerpoint/2010/main" val="1917531596"/>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level of professionalism in this dental practice makes me feel confident.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84.000000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4.261905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0.995400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474F3F2D-B680-AEBB-31EB-7E5C0704C743}"/>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276372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336D-5E30-FC7A-478A-AD1E93995AC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9D86C2-C8E0-5D9E-33B6-8D073F89A3A5}"/>
              </a:ext>
            </a:extLst>
          </p:cNvPr>
          <p:cNvGraphicFramePr>
            <a:graphicFrameLocks noGrp="1"/>
          </p:cNvGraphicFramePr>
          <p:nvPr>
            <p:extLst>
              <p:ext uri="{D42A27DB-BD31-4B8C-83A1-F6EECF244321}">
                <p14:modId xmlns:p14="http://schemas.microsoft.com/office/powerpoint/2010/main" val="3798897442"/>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Considering my concerns to the dentist makes me feel secured.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a:t>
                      </a:r>
                      <a:r>
                        <a:rPr lang="ar-EG" sz="1800" b="0" i="0" kern="1200" dirty="0">
                          <a:solidFill>
                            <a:schemeClr val="tx1"/>
                          </a:solidFill>
                          <a:effectLst/>
                          <a:latin typeface="+mn-lt"/>
                          <a:ea typeface="+mn-ea"/>
                          <a:cs typeface="+mn-cs"/>
                        </a:rPr>
                        <a:t>7</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3.958763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0.900434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B9AA107B-C6E7-4C1E-EED5-13C9FCAF9E20}"/>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3904909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DD67-EF39-5864-3251-A2950E26236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1742FF3-6EE4-5F34-D501-FA81DAC36A5E}"/>
              </a:ext>
            </a:extLst>
          </p:cNvPr>
          <p:cNvGraphicFramePr>
            <a:graphicFrameLocks noGrp="1"/>
          </p:cNvGraphicFramePr>
          <p:nvPr>
            <p:extLst>
              <p:ext uri="{D42A27DB-BD31-4B8C-83A1-F6EECF244321}">
                <p14:modId xmlns:p14="http://schemas.microsoft.com/office/powerpoint/2010/main" val="703483671"/>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have positive feelings for this dental practice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3.734694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0.868118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A35F42B7-1CD5-6EC6-98DE-933BB34384D1}"/>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216582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CF1B9-5F89-AC06-8FA8-3440E53D96A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BB604CE-B1AF-36D0-F7CA-02C411273F3A}"/>
              </a:ext>
            </a:extLst>
          </p:cNvPr>
          <p:cNvGraphicFramePr>
            <a:graphicFrameLocks noGrp="1"/>
          </p:cNvGraphicFramePr>
          <p:nvPr>
            <p:extLst>
              <p:ext uri="{D42A27DB-BD31-4B8C-83A1-F6EECF244321}">
                <p14:modId xmlns:p14="http://schemas.microsoft.com/office/powerpoint/2010/main" val="960391614"/>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administration processes in this dental practice intrigue me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3.622449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0.868118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0305ECF2-E214-ECC4-9549-E2BB83CD7DA5}"/>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2299901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7D1E3-09A0-7F16-BF61-2820ABE0707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087C62E-8A57-EFED-FEB7-A9AB2D1ADD5F}"/>
              </a:ext>
            </a:extLst>
          </p:cNvPr>
          <p:cNvGraphicFramePr>
            <a:graphicFrameLocks noGrp="1"/>
          </p:cNvGraphicFramePr>
          <p:nvPr>
            <p:extLst>
              <p:ext uri="{D42A27DB-BD31-4B8C-83A1-F6EECF244321}">
                <p14:modId xmlns:p14="http://schemas.microsoft.com/office/powerpoint/2010/main" val="3987655515"/>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modern equipment used by this dental practice stimulates my curiosity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3.928571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0.997419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5</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0B035C93-E094-E87A-1466-91CFD09E34C4}"/>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47581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867E-3A8C-970A-FAEA-7EB01FAFC85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4FCD789-10D5-7751-DD98-5FCB097851AF}"/>
              </a:ext>
            </a:extLst>
          </p:cNvPr>
          <p:cNvGraphicFramePr>
            <a:graphicFrameLocks noGrp="1"/>
          </p:cNvGraphicFramePr>
          <p:nvPr>
            <p:extLst>
              <p:ext uri="{D42A27DB-BD31-4B8C-83A1-F6EECF244321}">
                <p14:modId xmlns:p14="http://schemas.microsoft.com/office/powerpoint/2010/main" val="2572003312"/>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will continue to use the service of this dental practice even if other practices run promotional discounts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97.000000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3.865979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0.798812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013570A6-683A-495E-0D9C-B1FA3767F45F}"/>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423647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79C5F-707F-6F67-0454-C61BBE212AC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959921-55A6-EEDA-C448-E9DC06229358}"/>
              </a:ext>
            </a:extLst>
          </p:cNvPr>
          <p:cNvGraphicFramePr>
            <a:graphicFrameLocks noGrp="1"/>
          </p:cNvGraphicFramePr>
          <p:nvPr>
            <p:extLst>
              <p:ext uri="{D42A27DB-BD31-4B8C-83A1-F6EECF244321}">
                <p14:modId xmlns:p14="http://schemas.microsoft.com/office/powerpoint/2010/main" val="697994420"/>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recommended this dental practice to my family and friends.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a:t>
                      </a:r>
                      <a:r>
                        <a:rPr lang="ar-EG" sz="1800" b="0" i="0" kern="1200" dirty="0">
                          <a:solidFill>
                            <a:schemeClr val="tx1"/>
                          </a:solidFill>
                          <a:effectLst/>
                          <a:latin typeface="+mn-lt"/>
                          <a:ea typeface="+mn-ea"/>
                          <a:cs typeface="+mn-cs"/>
                        </a:rPr>
                        <a:t>8</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0.908153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1</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5</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1AC9537B-C166-5D38-5412-FF5D1D51EB12}"/>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1856847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A03C5-F4D9-56BB-1521-55FBD305531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58D705B-D05A-F02B-3E51-D07C58A54371}"/>
              </a:ext>
            </a:extLst>
          </p:cNvPr>
          <p:cNvGraphicFramePr>
            <a:graphicFrameLocks noGrp="1"/>
          </p:cNvGraphicFramePr>
          <p:nvPr>
            <p:extLst>
              <p:ext uri="{D42A27DB-BD31-4B8C-83A1-F6EECF244321}">
                <p14:modId xmlns:p14="http://schemas.microsoft.com/office/powerpoint/2010/main" val="575043617"/>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speak positively about this dental practice with others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4.051020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0.764852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1</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5</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03DB56F0-B10B-FE71-7AC4-CAD89220A4AB}"/>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1942060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31ABA-E778-A0BD-044A-0A30BC05AF3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28F3797-EBC1-EFB0-C4B3-3CDED7B19F90}"/>
              </a:ext>
            </a:extLst>
          </p:cNvPr>
          <p:cNvGraphicFramePr>
            <a:graphicFrameLocks noGrp="1"/>
          </p:cNvGraphicFramePr>
          <p:nvPr>
            <p:extLst>
              <p:ext uri="{D42A27DB-BD31-4B8C-83A1-F6EECF244321}">
                <p14:modId xmlns:p14="http://schemas.microsoft.com/office/powerpoint/2010/main" val="2269674341"/>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If someone mentions dental practice service, I will immediately suggest this dental practice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3.897959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0.924911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1</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5</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B1249CEA-1091-842A-4E96-34F219FD69D1}"/>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3100593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02B6E-6F76-3842-482F-DE5D7435662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D51B62A-13AC-CC89-5A54-1812107E3108}"/>
              </a:ext>
            </a:extLst>
          </p:cNvPr>
          <p:cNvGraphicFramePr>
            <a:graphicFrameLocks noGrp="1"/>
          </p:cNvGraphicFramePr>
          <p:nvPr>
            <p:extLst>
              <p:ext uri="{D42A27DB-BD31-4B8C-83A1-F6EECF244321}">
                <p14:modId xmlns:p14="http://schemas.microsoft.com/office/powerpoint/2010/main" val="3963231301"/>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If someone makes a negative comment about this dental practice brand, I will defend it.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9</a:t>
                      </a:r>
                      <a:r>
                        <a:rPr lang="ar-EG" sz="1800" b="0" i="0" kern="1200" dirty="0">
                          <a:solidFill>
                            <a:schemeClr val="tx1"/>
                          </a:solidFill>
                          <a:effectLst/>
                          <a:latin typeface="+mn-lt"/>
                          <a:ea typeface="+mn-ea"/>
                          <a:cs typeface="+mn-cs"/>
                        </a:rPr>
                        <a:t>8</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3.755102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0.995466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1</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FA376605-00B2-BC21-EA31-4219822D1C94}"/>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2763858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6E04-A0B1-3D0E-C915-E18832F59ED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1E2043-85CE-7542-DDCA-0643C342A254}"/>
              </a:ext>
            </a:extLst>
          </p:cNvPr>
          <p:cNvGraphicFramePr>
            <a:graphicFrameLocks noGrp="1"/>
          </p:cNvGraphicFramePr>
          <p:nvPr>
            <p:extLst>
              <p:ext uri="{D42A27DB-BD31-4B8C-83A1-F6EECF244321}">
                <p14:modId xmlns:p14="http://schemas.microsoft.com/office/powerpoint/2010/main" val="1420881812"/>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will keep using the service of this dental practice in the future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89.000000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3.404494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0.862332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E87C94D6-2E28-448B-74A7-6B69FED726EA}"/>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933912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FD76-09C5-B7D5-24D3-D92290E686C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2347393-F9FB-AA04-4FE6-AE5B93D67E4D}"/>
              </a:ext>
            </a:extLst>
          </p:cNvPr>
          <p:cNvGraphicFramePr>
            <a:graphicFrameLocks noGrp="1"/>
          </p:cNvGraphicFramePr>
          <p:nvPr>
            <p:extLst>
              <p:ext uri="{D42A27DB-BD31-4B8C-83A1-F6EECF244321}">
                <p14:modId xmlns:p14="http://schemas.microsoft.com/office/powerpoint/2010/main" val="1023472641"/>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would still use the service of this dental practice even if I received information about other dental practices’ options.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89.000000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3.438202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0.737857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CC4292F8-86A7-2FCF-46CD-E87C2E229EE2}"/>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9482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8091-71A2-1F70-9960-A0ED072C02A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05F0A4F-7876-4D9A-E0D0-7FD8B71D2F36}"/>
              </a:ext>
            </a:extLst>
          </p:cNvPr>
          <p:cNvGraphicFramePr>
            <a:graphicFrameLocks noGrp="1"/>
          </p:cNvGraphicFramePr>
          <p:nvPr>
            <p:extLst>
              <p:ext uri="{D42A27DB-BD31-4B8C-83A1-F6EECF244321}">
                <p14:modId xmlns:p14="http://schemas.microsoft.com/office/powerpoint/2010/main" val="1417827169"/>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When I am thinking about dental practice services, I always decide to use the services provided by this dental practice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83.000000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3.590361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0.826927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9143C18C-9F68-AFC5-C12E-A49F28F16F4C}"/>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2073179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0FAB-524B-F7C5-AA4B-A9510A54CEDA}"/>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BEBC4C5-5695-50C6-E969-CE7879AD0E37}"/>
              </a:ext>
            </a:extLst>
          </p:cNvPr>
          <p:cNvGraphicFramePr>
            <a:graphicFrameLocks noGrp="1"/>
          </p:cNvGraphicFramePr>
          <p:nvPr>
            <p:extLst>
              <p:ext uri="{D42A27DB-BD31-4B8C-83A1-F6EECF244321}">
                <p14:modId xmlns:p14="http://schemas.microsoft.com/office/powerpoint/2010/main" val="2760582155"/>
              </p:ext>
            </p:extLst>
          </p:nvPr>
        </p:nvGraphicFramePr>
        <p:xfrm>
          <a:off x="3879271" y="1828876"/>
          <a:ext cx="8037426" cy="3697531"/>
        </p:xfrm>
        <a:graphic>
          <a:graphicData uri="http://schemas.openxmlformats.org/drawingml/2006/table">
            <a:tbl>
              <a:tblPr firstRow="1" bandRow="1">
                <a:tableStyleId>{3B4B98B0-60AC-42C2-AFA5-B58CD77FA1E5}</a:tableStyleId>
              </a:tblPr>
              <a:tblGrid>
                <a:gridCol w="1558910">
                  <a:extLst>
                    <a:ext uri="{9D8B030D-6E8A-4147-A177-3AD203B41FA5}">
                      <a16:colId xmlns:a16="http://schemas.microsoft.com/office/drawing/2014/main" val="1286564348"/>
                    </a:ext>
                  </a:extLst>
                </a:gridCol>
                <a:gridCol w="6478516">
                  <a:extLst>
                    <a:ext uri="{9D8B030D-6E8A-4147-A177-3AD203B41FA5}">
                      <a16:colId xmlns:a16="http://schemas.microsoft.com/office/drawing/2014/main" val="124286105"/>
                    </a:ext>
                  </a:extLst>
                </a:gridCol>
              </a:tblGrid>
              <a:tr h="77145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am committed to this dental practice.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61062">
                <a:tc>
                  <a:txBody>
                    <a:bodyPr/>
                    <a:lstStyle/>
                    <a:p>
                      <a:r>
                        <a:rPr lang="en-US" sz="1800" b="0" i="0" kern="1200" dirty="0">
                          <a:solidFill>
                            <a:schemeClr val="tx1"/>
                          </a:solidFill>
                          <a:effectLst/>
                          <a:latin typeface="+mn-lt"/>
                          <a:ea typeface="+mn-ea"/>
                          <a:cs typeface="+mn-cs"/>
                        </a:rPr>
                        <a:t>count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88.000000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61062">
                <a:tc>
                  <a:txBody>
                    <a:bodyPr/>
                    <a:lstStyle/>
                    <a:p>
                      <a:r>
                        <a:rPr lang="en-US" sz="1800" b="0" i="0" kern="1200" dirty="0">
                          <a:solidFill>
                            <a:schemeClr val="tx1"/>
                          </a:solidFill>
                          <a:effectLst/>
                          <a:latin typeface="+mn-lt"/>
                          <a:ea typeface="+mn-ea"/>
                          <a:cs typeface="+mn-cs"/>
                        </a:rPr>
                        <a:t>mean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3.579545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61062">
                <a:tc>
                  <a:txBody>
                    <a:bodyPr/>
                    <a:lstStyle/>
                    <a:p>
                      <a:r>
                        <a:rPr lang="en-US" sz="1800" b="0" i="0" kern="1200" dirty="0">
                          <a:solidFill>
                            <a:schemeClr val="tx1"/>
                          </a:solidFill>
                          <a:effectLst/>
                          <a:latin typeface="+mn-lt"/>
                          <a:ea typeface="+mn-ea"/>
                          <a:cs typeface="+mn-cs"/>
                        </a:rPr>
                        <a:t>std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0.812568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657884"/>
                  </a:ext>
                </a:extLst>
              </a:tr>
              <a:tr h="361062">
                <a:tc>
                  <a:txBody>
                    <a:bodyPr/>
                    <a:lstStyle/>
                    <a:p>
                      <a:r>
                        <a:rPr lang="en-US" sz="1800" b="0" i="0" kern="1200" dirty="0">
                          <a:solidFill>
                            <a:schemeClr val="tx1"/>
                          </a:solidFill>
                          <a:effectLst/>
                          <a:latin typeface="+mn-lt"/>
                          <a:ea typeface="+mn-ea"/>
                          <a:cs typeface="+mn-cs"/>
                        </a:rPr>
                        <a:t>min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2.000000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37508"/>
                  </a:ext>
                </a:extLst>
              </a:tr>
              <a:tr h="361062">
                <a:tc>
                  <a:txBody>
                    <a:bodyPr/>
                    <a:lstStyle/>
                    <a:p>
                      <a:r>
                        <a:rPr lang="en-US" sz="1800" b="0" i="0" kern="1200" dirty="0">
                          <a:solidFill>
                            <a:schemeClr val="tx1"/>
                          </a:solidFill>
                          <a:effectLst/>
                          <a:latin typeface="+mn-lt"/>
                          <a:ea typeface="+mn-ea"/>
                          <a:cs typeface="+mn-cs"/>
                        </a:rPr>
                        <a:t>25%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3</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5252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50%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0526672"/>
                  </a:ext>
                </a:extLst>
              </a:tr>
              <a:tr h="361062">
                <a:tc>
                  <a:txBody>
                    <a:bodyPr/>
                    <a:lstStyle/>
                    <a:p>
                      <a:r>
                        <a:rPr lang="en-US"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ar-EG" sz="1800" b="0" i="0" kern="1200" dirty="0">
                          <a:solidFill>
                            <a:schemeClr val="tx1"/>
                          </a:solidFill>
                          <a:effectLst/>
                          <a:latin typeface="+mn-lt"/>
                          <a:ea typeface="+mn-ea"/>
                          <a:cs typeface="+mn-cs"/>
                        </a:rPr>
                        <a:t>4</a:t>
                      </a:r>
                      <a:r>
                        <a:rPr lang="en-US" sz="1800" b="0" i="0" kern="1200" dirty="0">
                          <a:solidFill>
                            <a:schemeClr val="tx1"/>
                          </a:solidFill>
                          <a:effectLst/>
                          <a:latin typeface="+mn-lt"/>
                          <a:ea typeface="+mn-ea"/>
                          <a:cs typeface="+mn-cs"/>
                        </a:rPr>
                        <a:t>.000000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7583"/>
                  </a:ext>
                </a:extLst>
              </a:tr>
              <a:tr h="361062">
                <a:tc>
                  <a:txBody>
                    <a:bodyPr/>
                    <a:lstStyle/>
                    <a:p>
                      <a:r>
                        <a:rPr lang="en-US" dirty="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5.000000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726700"/>
                  </a:ext>
                </a:extLst>
              </a:tr>
            </a:tbl>
          </a:graphicData>
        </a:graphic>
      </p:graphicFrame>
      <p:sp>
        <p:nvSpPr>
          <p:cNvPr id="3" name="Slide Number Placeholder 2">
            <a:extLst>
              <a:ext uri="{FF2B5EF4-FFF2-40B4-BE49-F238E27FC236}">
                <a16:creationId xmlns:a16="http://schemas.microsoft.com/office/drawing/2014/main" id="{8A3284C5-59C5-65C9-4F65-21F85E207503}"/>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744761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717AD15-CC91-739D-3090-97C96587C799}"/>
              </a:ext>
            </a:extLst>
          </p:cNvPr>
          <p:cNvGraphicFramePr>
            <a:graphicFrameLocks noGrp="1"/>
          </p:cNvGraphicFramePr>
          <p:nvPr>
            <p:extLst>
              <p:ext uri="{D42A27DB-BD31-4B8C-83A1-F6EECF244321}">
                <p14:modId xmlns:p14="http://schemas.microsoft.com/office/powerpoint/2010/main" val="665439948"/>
              </p:ext>
            </p:extLst>
          </p:nvPr>
        </p:nvGraphicFramePr>
        <p:xfrm>
          <a:off x="3388600" y="227183"/>
          <a:ext cx="8340556" cy="1679530"/>
        </p:xfrm>
        <a:graphic>
          <a:graphicData uri="http://schemas.openxmlformats.org/drawingml/2006/table">
            <a:tbl>
              <a:tblPr firstRow="1" bandRow="1">
                <a:tableStyleId>{3B4B98B0-60AC-42C2-AFA5-B58CD77FA1E5}</a:tableStyleId>
              </a:tblPr>
              <a:tblGrid>
                <a:gridCol w="1617704">
                  <a:extLst>
                    <a:ext uri="{9D8B030D-6E8A-4147-A177-3AD203B41FA5}">
                      <a16:colId xmlns:a16="http://schemas.microsoft.com/office/drawing/2014/main" val="1286564348"/>
                    </a:ext>
                  </a:extLst>
                </a:gridCol>
                <a:gridCol w="6722852">
                  <a:extLst>
                    <a:ext uri="{9D8B030D-6E8A-4147-A177-3AD203B41FA5}">
                      <a16:colId xmlns:a16="http://schemas.microsoft.com/office/drawing/2014/main" val="124286105"/>
                    </a:ext>
                  </a:extLst>
                </a:gridCol>
              </a:tblGrid>
              <a:tr h="862076">
                <a:tc>
                  <a:txBody>
                    <a:bodyPr/>
                    <a:lstStyle/>
                    <a:p>
                      <a:r>
                        <a:rPr lang="en-US" sz="1800" b="0" i="0" kern="1200" dirty="0">
                          <a:solidFill>
                            <a:schemeClr val="tx1"/>
                          </a:solidFill>
                          <a:effectLst/>
                          <a:latin typeface="+mn-lt"/>
                          <a:ea typeface="+mn-ea"/>
                          <a:cs typeface="+mn-cs"/>
                        </a:rPr>
                        <a:t>Gender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recommended this dental practice to my family and friends. </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408727">
                <a:tc>
                  <a:txBody>
                    <a:bodyPr/>
                    <a:lstStyle/>
                    <a:p>
                      <a:r>
                        <a:rPr lang="en-US" sz="1800" b="0" i="0" kern="1200" dirty="0">
                          <a:solidFill>
                            <a:schemeClr val="tx1"/>
                          </a:solidFill>
                          <a:effectLst/>
                          <a:latin typeface="+mn-lt"/>
                          <a:ea typeface="+mn-ea"/>
                          <a:cs typeface="+mn-cs"/>
                        </a:rPr>
                        <a:t>Female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3.933333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408727">
                <a:tc>
                  <a:txBody>
                    <a:bodyPr/>
                    <a:lstStyle/>
                    <a:p>
                      <a:r>
                        <a:rPr lang="en-US" sz="1800" b="0" i="0" kern="1200" dirty="0">
                          <a:solidFill>
                            <a:schemeClr val="tx1"/>
                          </a:solidFill>
                          <a:effectLst/>
                          <a:latin typeface="+mn-lt"/>
                          <a:ea typeface="+mn-ea"/>
                          <a:cs typeface="+mn-cs"/>
                        </a:rPr>
                        <a:t>Male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4.105263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bl>
          </a:graphicData>
        </a:graphic>
      </p:graphicFrame>
      <p:graphicFrame>
        <p:nvGraphicFramePr>
          <p:cNvPr id="6" name="Table 5">
            <a:extLst>
              <a:ext uri="{FF2B5EF4-FFF2-40B4-BE49-F238E27FC236}">
                <a16:creationId xmlns:a16="http://schemas.microsoft.com/office/drawing/2014/main" id="{49A140F0-99BF-F3C1-A4BD-A63E57B63E24}"/>
              </a:ext>
            </a:extLst>
          </p:cNvPr>
          <p:cNvGraphicFramePr>
            <a:graphicFrameLocks noGrp="1"/>
          </p:cNvGraphicFramePr>
          <p:nvPr>
            <p:extLst>
              <p:ext uri="{D42A27DB-BD31-4B8C-83A1-F6EECF244321}">
                <p14:modId xmlns:p14="http://schemas.microsoft.com/office/powerpoint/2010/main" val="2905249885"/>
              </p:ext>
            </p:extLst>
          </p:nvPr>
        </p:nvGraphicFramePr>
        <p:xfrm>
          <a:off x="3388600" y="2965586"/>
          <a:ext cx="8340556" cy="2362052"/>
        </p:xfrm>
        <a:graphic>
          <a:graphicData uri="http://schemas.openxmlformats.org/drawingml/2006/table">
            <a:tbl>
              <a:tblPr firstRow="1" bandRow="1">
                <a:tableStyleId>{3B4B98B0-60AC-42C2-AFA5-B58CD77FA1E5}</a:tableStyleId>
              </a:tblPr>
              <a:tblGrid>
                <a:gridCol w="1617704">
                  <a:extLst>
                    <a:ext uri="{9D8B030D-6E8A-4147-A177-3AD203B41FA5}">
                      <a16:colId xmlns:a16="http://schemas.microsoft.com/office/drawing/2014/main" val="1286564348"/>
                    </a:ext>
                  </a:extLst>
                </a:gridCol>
                <a:gridCol w="6722852">
                  <a:extLst>
                    <a:ext uri="{9D8B030D-6E8A-4147-A177-3AD203B41FA5}">
                      <a16:colId xmlns:a16="http://schemas.microsoft.com/office/drawing/2014/main" val="124286105"/>
                    </a:ext>
                  </a:extLst>
                </a:gridCol>
              </a:tblGrid>
              <a:tr h="561112">
                <a:tc>
                  <a:txBody>
                    <a:bodyPr/>
                    <a:lstStyle/>
                    <a:p>
                      <a:r>
                        <a:rPr lang="en-US" sz="1800" b="0" i="0" kern="1200" dirty="0" err="1">
                          <a:solidFill>
                            <a:schemeClr val="tx1"/>
                          </a:solidFill>
                          <a:effectLst/>
                          <a:latin typeface="+mn-lt"/>
                          <a:ea typeface="+mn-ea"/>
                          <a:cs typeface="+mn-cs"/>
                        </a:rPr>
                        <a:t>Age_Range</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I recommended this dental practice to my family and friends.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426300"/>
                  </a:ext>
                </a:extLst>
              </a:tr>
              <a:tr h="320636">
                <a:tc>
                  <a:txBody>
                    <a:bodyPr/>
                    <a:lstStyle/>
                    <a:p>
                      <a:r>
                        <a:rPr lang="en-US" b="0" i="0" dirty="0">
                          <a:effectLst/>
                          <a:latin typeface="gg sans"/>
                        </a:rPr>
                        <a:t>18-25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i="0" dirty="0">
                          <a:effectLst/>
                          <a:latin typeface="gg sans"/>
                        </a:rPr>
                        <a:t>4.000000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9019367"/>
                  </a:ext>
                </a:extLst>
              </a:tr>
              <a:tr h="320636">
                <a:tc>
                  <a:txBody>
                    <a:bodyPr/>
                    <a:lstStyle/>
                    <a:p>
                      <a:r>
                        <a:rPr lang="en-US" sz="1800" b="0" i="0" kern="1200" dirty="0">
                          <a:solidFill>
                            <a:schemeClr val="tx1"/>
                          </a:solidFill>
                          <a:effectLst/>
                          <a:latin typeface="+mn-lt"/>
                          <a:ea typeface="+mn-ea"/>
                          <a:cs typeface="+mn-cs"/>
                        </a:rPr>
                        <a:t>26-35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4.200000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373919"/>
                  </a:ext>
                </a:extLst>
              </a:tr>
              <a:tr h="320636">
                <a:tc>
                  <a:txBody>
                    <a:bodyPr/>
                    <a:lstStyle/>
                    <a:p>
                      <a:r>
                        <a:rPr lang="en-US" sz="1800" b="0" i="0" kern="1200" dirty="0">
                          <a:solidFill>
                            <a:schemeClr val="tx1"/>
                          </a:solidFill>
                          <a:effectLst/>
                          <a:latin typeface="+mn-lt"/>
                          <a:ea typeface="+mn-ea"/>
                          <a:cs typeface="+mn-cs"/>
                        </a:rPr>
                        <a:t>36-45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3.142857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828525"/>
                  </a:ext>
                </a:extLst>
              </a:tr>
              <a:tr h="624692">
                <a:tc>
                  <a:txBody>
                    <a:bodyPr/>
                    <a:lstStyle/>
                    <a:p>
                      <a:pPr fontAlgn="base"/>
                      <a:r>
                        <a:rPr lang="en-US" sz="1800" b="0" i="0" kern="1200" dirty="0">
                          <a:solidFill>
                            <a:schemeClr val="tx1"/>
                          </a:solidFill>
                          <a:effectLst/>
                          <a:latin typeface="+mn-lt"/>
                          <a:ea typeface="+mn-ea"/>
                          <a:cs typeface="+mn-cs"/>
                        </a:rPr>
                        <a:t>46-60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err="1">
                          <a:solidFill>
                            <a:schemeClr val="tx1"/>
                          </a:solidFill>
                          <a:effectLst/>
                          <a:latin typeface="+mn-lt"/>
                          <a:ea typeface="+mn-ea"/>
                          <a:cs typeface="+mn-cs"/>
                        </a:rPr>
                        <a:t>NaN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2352146"/>
                  </a:ext>
                </a:extLst>
              </a:tr>
            </a:tbl>
          </a:graphicData>
        </a:graphic>
      </p:graphicFrame>
      <p:sp>
        <p:nvSpPr>
          <p:cNvPr id="7" name="TextBox 6">
            <a:extLst>
              <a:ext uri="{FF2B5EF4-FFF2-40B4-BE49-F238E27FC236}">
                <a16:creationId xmlns:a16="http://schemas.microsoft.com/office/drawing/2014/main" id="{363C0A1B-D794-B689-089B-1E1EE68D7A5C}"/>
              </a:ext>
            </a:extLst>
          </p:cNvPr>
          <p:cNvSpPr txBox="1"/>
          <p:nvPr/>
        </p:nvSpPr>
        <p:spPr>
          <a:xfrm>
            <a:off x="3307644" y="2133269"/>
            <a:ext cx="6897512" cy="923330"/>
          </a:xfrm>
          <a:prstGeom prst="rect">
            <a:avLst/>
          </a:prstGeom>
          <a:noFill/>
        </p:spPr>
        <p:txBody>
          <a:bodyPr wrap="square" rtlCol="0">
            <a:spAutoFit/>
          </a:bodyPr>
          <a:lstStyle/>
          <a:p>
            <a:r>
              <a:rPr lang="en-US" b="1" dirty="0"/>
              <a:t>Male patients reported a slightly higher intention to recommend the dental practice compared to female patients.</a:t>
            </a:r>
          </a:p>
          <a:p>
            <a:endParaRPr lang="en-US" dirty="0"/>
          </a:p>
        </p:txBody>
      </p:sp>
      <p:sp>
        <p:nvSpPr>
          <p:cNvPr id="8" name="TextBox 7">
            <a:extLst>
              <a:ext uri="{FF2B5EF4-FFF2-40B4-BE49-F238E27FC236}">
                <a16:creationId xmlns:a16="http://schemas.microsoft.com/office/drawing/2014/main" id="{F5AAD20A-01ED-EA17-44FD-749CE928D73F}"/>
              </a:ext>
            </a:extLst>
          </p:cNvPr>
          <p:cNvSpPr txBox="1"/>
          <p:nvPr/>
        </p:nvSpPr>
        <p:spPr>
          <a:xfrm>
            <a:off x="3307644" y="5421291"/>
            <a:ext cx="7303912" cy="1477328"/>
          </a:xfrm>
          <a:prstGeom prst="rect">
            <a:avLst/>
          </a:prstGeom>
          <a:noFill/>
        </p:spPr>
        <p:txBody>
          <a:bodyPr wrap="square" rtlCol="0">
            <a:spAutoFit/>
          </a:bodyPr>
          <a:lstStyle/>
          <a:p>
            <a:r>
              <a:rPr lang="en-US" b="1" dirty="0"/>
              <a:t>Patients aged 26–35 showed the highest likelihood of recommending the dental practice to others, followed by the 18–25 group. Recommendation levels dropped noticeably among patients aged 36–45.</a:t>
            </a:r>
          </a:p>
          <a:p>
            <a:endParaRPr lang="en-US" dirty="0"/>
          </a:p>
        </p:txBody>
      </p:sp>
      <p:sp>
        <p:nvSpPr>
          <p:cNvPr id="9" name="Slide Number Placeholder 8">
            <a:extLst>
              <a:ext uri="{FF2B5EF4-FFF2-40B4-BE49-F238E27FC236}">
                <a16:creationId xmlns:a16="http://schemas.microsoft.com/office/drawing/2014/main" id="{B0275525-2D10-60A4-8228-9BD596ED18BA}"/>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1727847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96507-9E0F-D959-1392-288B89D4C85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6CDCAE-2576-7BE3-E067-3FAB6FC59E31}"/>
              </a:ext>
            </a:extLst>
          </p:cNvPr>
          <p:cNvSpPr>
            <a:spLocks noGrp="1"/>
          </p:cNvSpPr>
          <p:nvPr>
            <p:ph type="title"/>
          </p:nvPr>
        </p:nvSpPr>
        <p:spPr/>
        <p:txBody>
          <a:bodyPr/>
          <a:lstStyle/>
          <a:p>
            <a:r>
              <a:rPr lang="en-US" dirty="0"/>
              <a:t>reliability</a:t>
            </a:r>
          </a:p>
        </p:txBody>
      </p:sp>
      <p:sp>
        <p:nvSpPr>
          <p:cNvPr id="8" name="Content Placeholder 2">
            <a:extLst>
              <a:ext uri="{FF2B5EF4-FFF2-40B4-BE49-F238E27FC236}">
                <a16:creationId xmlns:a16="http://schemas.microsoft.com/office/drawing/2014/main" id="{35302E77-4ACD-E6D8-6F9F-EC246C860D1B}"/>
              </a:ext>
            </a:extLst>
          </p:cNvPr>
          <p:cNvSpPr txBox="1">
            <a:spLocks/>
          </p:cNvSpPr>
          <p:nvPr/>
        </p:nvSpPr>
        <p:spPr>
          <a:xfrm>
            <a:off x="3612965" y="4662573"/>
            <a:ext cx="7965460" cy="1428313"/>
          </a:xfrm>
          <a:prstGeom prst="rect">
            <a:avLst/>
          </a:prstGeom>
        </p:spPr>
        <p:txBody>
          <a:bodyPr vert="horz" lIns="91440" tIns="0" rIns="91440" bIns="0" rtlCol="0">
            <a:normAutofit/>
          </a:bodyPr>
          <a:lstStyle>
            <a:lvl1pPr marL="347472"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1pPr>
            <a:lvl2pPr marL="6858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11430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1">
            <a:extLst>
              <a:ext uri="{FF2B5EF4-FFF2-40B4-BE49-F238E27FC236}">
                <a16:creationId xmlns:a16="http://schemas.microsoft.com/office/drawing/2014/main" id="{E78F9193-DCB8-F2E4-A08D-67B67A22E9B6}"/>
              </a:ext>
            </a:extLst>
          </p:cNvPr>
          <p:cNvSpPr>
            <a:spLocks noGrp="1" noChangeArrowheads="1"/>
          </p:cNvSpPr>
          <p:nvPr>
            <p:ph sz="half" idx="2"/>
          </p:nvPr>
        </p:nvSpPr>
        <p:spPr bwMode="auto">
          <a:xfrm>
            <a:off x="3460565" y="1962791"/>
            <a:ext cx="79654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Cronbach’s Alpha value  between questions and each other generated by the code was </a:t>
            </a:r>
            <a:r>
              <a:rPr kumimoji="0" lang="en-US" altLang="en-US" sz="2000" b="1" i="0" u="none" strike="noStrike" cap="none" normalizeH="0" baseline="0" dirty="0">
                <a:ln>
                  <a:noFill/>
                </a:ln>
                <a:solidFill>
                  <a:schemeClr val="tx1"/>
                </a:solidFill>
                <a:effectLst/>
                <a:latin typeface="Arial" panose="020B0604020202020204" pitchFamily="34" charset="0"/>
              </a:rPr>
              <a:t>0.9119</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FontTx/>
              <a:buChar char="•"/>
            </a:pPr>
            <a:r>
              <a:rPr lang="en-US" sz="2000" dirty="0">
                <a:solidFill>
                  <a:schemeClr val="tx1"/>
                </a:solidFill>
                <a:latin typeface="Arial" panose="020B0604020202020204" pitchFamily="34" charset="0"/>
                <a:cs typeface="Arial" panose="020B0604020202020204" pitchFamily="34" charset="0"/>
              </a:rPr>
              <a:t>Cronbach’s Alpha shows the internal consistency among the items, i.e., how well the questions relate to each other.</a:t>
            </a:r>
            <a:endParaRPr kumimoji="0" lang="ar-EG" altLang="en-US" sz="24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The output also included a </a:t>
            </a:r>
            <a:r>
              <a:rPr kumimoji="0" lang="en-US" altLang="en-US" sz="2000" b="1" i="0" u="none" strike="noStrike" cap="none" normalizeH="0" baseline="0" dirty="0">
                <a:ln>
                  <a:noFill/>
                </a:ln>
                <a:solidFill>
                  <a:schemeClr val="tx1"/>
                </a:solidFill>
                <a:effectLst/>
                <a:latin typeface="Arial" panose="020B0604020202020204" pitchFamily="34" charset="0"/>
              </a:rPr>
              <a:t>confidence interval</a:t>
            </a:r>
            <a:r>
              <a:rPr kumimoji="0" lang="en-US" altLang="en-US" sz="2000" b="0" i="0" u="none" strike="noStrike" cap="none" normalizeH="0" baseline="0" dirty="0">
                <a:ln>
                  <a:noFill/>
                </a:ln>
                <a:solidFill>
                  <a:schemeClr val="tx1"/>
                </a:solidFill>
                <a:effectLst/>
                <a:latin typeface="Arial" panose="020B0604020202020204" pitchFamily="34" charset="0"/>
              </a:rPr>
              <a:t> ranging from </a:t>
            </a:r>
            <a:r>
              <a:rPr kumimoji="0" lang="en-US" altLang="en-US" sz="2000" b="1" i="0" u="none" strike="noStrike" cap="none" normalizeH="0" baseline="0" dirty="0">
                <a:ln>
                  <a:noFill/>
                </a:ln>
                <a:solidFill>
                  <a:schemeClr val="tx1"/>
                </a:solidFill>
                <a:effectLst/>
                <a:latin typeface="Arial" panose="020B0604020202020204" pitchFamily="34" charset="0"/>
              </a:rPr>
              <a:t>0.885</a:t>
            </a:r>
            <a:r>
              <a:rPr kumimoji="0" lang="en-US" altLang="en-US" sz="2000" b="0" i="0" u="none" strike="noStrike" cap="none" normalizeH="0" baseline="0" dirty="0">
                <a:ln>
                  <a:noFill/>
                </a:ln>
                <a:solidFill>
                  <a:schemeClr val="tx1"/>
                </a:solidFill>
                <a:effectLst/>
                <a:latin typeface="Arial" panose="020B0604020202020204" pitchFamily="34" charset="0"/>
              </a:rPr>
              <a:t> to </a:t>
            </a:r>
            <a:r>
              <a:rPr kumimoji="0" lang="en-US" altLang="en-US" sz="2000" b="1" i="0" u="none" strike="noStrike" cap="none" normalizeH="0" baseline="0" dirty="0">
                <a:ln>
                  <a:noFill/>
                </a:ln>
                <a:solidFill>
                  <a:schemeClr val="tx1"/>
                </a:solidFill>
                <a:effectLst/>
                <a:latin typeface="Arial" panose="020B0604020202020204" pitchFamily="34" charset="0"/>
              </a:rPr>
              <a:t>0.935</a:t>
            </a:r>
            <a:r>
              <a:rPr kumimoji="0" lang="en-US" altLang="en-US" sz="2000" b="0" i="0" u="none" strike="noStrike" cap="none" normalizeH="0" baseline="0" dirty="0">
                <a:ln>
                  <a:noFill/>
                </a:ln>
                <a:solidFill>
                  <a:schemeClr val="tx1"/>
                </a:solidFill>
                <a:effectLst/>
                <a:latin typeface="Arial" panose="020B0604020202020204" pitchFamily="34" charset="0"/>
              </a:rPr>
              <a:t>.</a:t>
            </a:r>
            <a:br>
              <a:rPr lang="en-US" altLang="en-US" sz="2000" dirty="0">
                <a:solidFill>
                  <a:schemeClr val="tx1"/>
                </a:solidFill>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result is presented as a tuple showing the alpha value followed by the interval boundaries.</a:t>
            </a:r>
            <a:endParaRPr kumimoji="0" lang="ar-EG"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This output indicates the overall reliability score along with the range in which the value is expected to fall.</a:t>
            </a:r>
          </a:p>
        </p:txBody>
      </p:sp>
      <p:sp>
        <p:nvSpPr>
          <p:cNvPr id="4" name="Slide Number Placeholder 3">
            <a:extLst>
              <a:ext uri="{FF2B5EF4-FFF2-40B4-BE49-F238E27FC236}">
                <a16:creationId xmlns:a16="http://schemas.microsoft.com/office/drawing/2014/main" id="{437BB9A4-9D1D-F652-E1CF-7E9FD2C9016C}"/>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379997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FEF391-0B38-F7F4-2C9F-F36920F138FA}"/>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
        <p:nvSpPr>
          <p:cNvPr id="5" name="TextBox 4">
            <a:extLst>
              <a:ext uri="{FF2B5EF4-FFF2-40B4-BE49-F238E27FC236}">
                <a16:creationId xmlns:a16="http://schemas.microsoft.com/office/drawing/2014/main" id="{529C818B-707E-42FE-62B0-2D4A769BA6F3}"/>
              </a:ext>
            </a:extLst>
          </p:cNvPr>
          <p:cNvSpPr txBox="1"/>
          <p:nvPr/>
        </p:nvSpPr>
        <p:spPr>
          <a:xfrm>
            <a:off x="2833510" y="3042265"/>
            <a:ext cx="8997246" cy="1569660"/>
          </a:xfrm>
          <a:prstGeom prst="rect">
            <a:avLst/>
          </a:prstGeom>
          <a:noFill/>
        </p:spPr>
        <p:txBody>
          <a:bodyPr wrap="square" rtlCol="0">
            <a:spAutoFit/>
          </a:bodyPr>
          <a:lstStyle/>
          <a:p>
            <a:r>
              <a:rPr lang="en-US" sz="2400" b="1" dirty="0"/>
              <a:t>Cronbach’s Alpha values indicate the internal consistency of each survey dimension. Sensory (0.57), Emotional (0.62), and Professional (0.41) show how reliably the items within each dimension measure the same underlying concept.</a:t>
            </a:r>
          </a:p>
        </p:txBody>
      </p:sp>
    </p:spTree>
    <p:extLst>
      <p:ext uri="{BB962C8B-B14F-4D97-AF65-F5344CB8AC3E}">
        <p14:creationId xmlns:p14="http://schemas.microsoft.com/office/powerpoint/2010/main" val="2774708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C4D7-2932-D85C-4A6F-55CC7A98F1CE}"/>
              </a:ext>
            </a:extLst>
          </p:cNvPr>
          <p:cNvSpPr>
            <a:spLocks noGrp="1"/>
          </p:cNvSpPr>
          <p:nvPr>
            <p:ph type="title"/>
          </p:nvPr>
        </p:nvSpPr>
        <p:spPr>
          <a:xfrm>
            <a:off x="3047610" y="461315"/>
            <a:ext cx="7965461" cy="994164"/>
          </a:xfrm>
        </p:spPr>
        <p:txBody>
          <a:bodyPr/>
          <a:lstStyle/>
          <a:p>
            <a:r>
              <a:rPr lang="en-US" dirty="0"/>
              <a:t>Regression</a:t>
            </a:r>
          </a:p>
        </p:txBody>
      </p:sp>
      <p:sp>
        <p:nvSpPr>
          <p:cNvPr id="6" name="Slide Number Placeholder 5">
            <a:extLst>
              <a:ext uri="{FF2B5EF4-FFF2-40B4-BE49-F238E27FC236}">
                <a16:creationId xmlns:a16="http://schemas.microsoft.com/office/drawing/2014/main" id="{08279C12-FF3C-D601-885E-931E9AD5281E}"/>
              </a:ext>
            </a:extLst>
          </p:cNvPr>
          <p:cNvSpPr>
            <a:spLocks noGrp="1"/>
          </p:cNvSpPr>
          <p:nvPr>
            <p:ph type="sldNum" sz="quarter" idx="10"/>
          </p:nvPr>
        </p:nvSpPr>
        <p:spPr/>
        <p:txBody>
          <a:bodyPr/>
          <a:lstStyle/>
          <a:p>
            <a:fld id="{48F63A3B-78C7-47BE-AE5E-E10140E04643}" type="slidenum">
              <a:rPr lang="en-US" smtClean="0"/>
              <a:pPr/>
              <a:t>24</a:t>
            </a:fld>
            <a:endParaRPr lang="en-US" dirty="0"/>
          </a:p>
        </p:txBody>
      </p:sp>
      <p:graphicFrame>
        <p:nvGraphicFramePr>
          <p:cNvPr id="3" name="Table 2">
            <a:extLst>
              <a:ext uri="{FF2B5EF4-FFF2-40B4-BE49-F238E27FC236}">
                <a16:creationId xmlns:a16="http://schemas.microsoft.com/office/drawing/2014/main" id="{7FC5A5AD-B495-1BA6-28F4-F6857EA4EBA3}"/>
              </a:ext>
            </a:extLst>
          </p:cNvPr>
          <p:cNvGraphicFramePr>
            <a:graphicFrameLocks noGrp="1"/>
          </p:cNvGraphicFramePr>
          <p:nvPr>
            <p:extLst>
              <p:ext uri="{D42A27DB-BD31-4B8C-83A1-F6EECF244321}">
                <p14:modId xmlns:p14="http://schemas.microsoft.com/office/powerpoint/2010/main" val="2752360791"/>
              </p:ext>
            </p:extLst>
          </p:nvPr>
        </p:nvGraphicFramePr>
        <p:xfrm>
          <a:off x="3210571" y="1575804"/>
          <a:ext cx="8137442" cy="1483360"/>
        </p:xfrm>
        <a:graphic>
          <a:graphicData uri="http://schemas.openxmlformats.org/drawingml/2006/table">
            <a:tbl>
              <a:tblPr firstRow="1" bandRow="1">
                <a:tableStyleId>{3B4B98B0-60AC-42C2-AFA5-B58CD77FA1E5}</a:tableStyleId>
              </a:tblPr>
              <a:tblGrid>
                <a:gridCol w="4001390">
                  <a:extLst>
                    <a:ext uri="{9D8B030D-6E8A-4147-A177-3AD203B41FA5}">
                      <a16:colId xmlns:a16="http://schemas.microsoft.com/office/drawing/2014/main" val="2132247262"/>
                    </a:ext>
                  </a:extLst>
                </a:gridCol>
                <a:gridCol w="4136052">
                  <a:extLst>
                    <a:ext uri="{9D8B030D-6E8A-4147-A177-3AD203B41FA5}">
                      <a16:colId xmlns:a16="http://schemas.microsoft.com/office/drawing/2014/main" val="2306964232"/>
                    </a:ext>
                  </a:extLst>
                </a:gridCol>
              </a:tblGrid>
              <a:tr h="370840">
                <a:tc>
                  <a:txBody>
                    <a:bodyPr/>
                    <a:lstStyle/>
                    <a:p>
                      <a:r>
                        <a:rPr lang="en-US" dirty="0"/>
                        <a:t>dimension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Regression Coefficients for Dimensions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091515"/>
                  </a:ext>
                </a:extLst>
              </a:tr>
              <a:tr h="370840">
                <a:tc>
                  <a:txBody>
                    <a:bodyPr/>
                    <a:lstStyle/>
                    <a:p>
                      <a:r>
                        <a:rPr lang="en-US" sz="1800" b="0" i="0" kern="1200" dirty="0">
                          <a:solidFill>
                            <a:schemeClr val="tx1"/>
                          </a:solidFill>
                          <a:effectLst/>
                          <a:latin typeface="+mn-lt"/>
                          <a:ea typeface="+mn-ea"/>
                          <a:cs typeface="+mn-cs"/>
                        </a:rPr>
                        <a:t>Sensory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0.188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280971"/>
                  </a:ext>
                </a:extLst>
              </a:tr>
              <a:tr h="370840">
                <a:tc>
                  <a:txBody>
                    <a:bodyPr/>
                    <a:lstStyle/>
                    <a:p>
                      <a:r>
                        <a:rPr lang="en-US" sz="1800" b="0" i="0" kern="1200" dirty="0">
                          <a:solidFill>
                            <a:schemeClr val="tx1"/>
                          </a:solidFill>
                          <a:effectLst/>
                          <a:latin typeface="+mn-lt"/>
                          <a:ea typeface="+mn-ea"/>
                          <a:cs typeface="+mn-cs"/>
                        </a:rPr>
                        <a:t>Emotional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0.222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895257"/>
                  </a:ext>
                </a:extLst>
              </a:tr>
              <a:tr h="370840">
                <a:tc>
                  <a:txBody>
                    <a:bodyPr/>
                    <a:lstStyle/>
                    <a:p>
                      <a:r>
                        <a:rPr lang="en-US" sz="1800" b="0" i="0" kern="1200" dirty="0">
                          <a:solidFill>
                            <a:schemeClr val="tx1"/>
                          </a:solidFill>
                          <a:effectLst/>
                          <a:latin typeface="+mn-lt"/>
                          <a:ea typeface="+mn-ea"/>
                          <a:cs typeface="+mn-cs"/>
                        </a:rPr>
                        <a:t>Professional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7682692"/>
                  </a:ext>
                </a:extLst>
              </a:tr>
            </a:tbl>
          </a:graphicData>
        </a:graphic>
      </p:graphicFrame>
      <p:sp>
        <p:nvSpPr>
          <p:cNvPr id="8" name="TextBox 7">
            <a:extLst>
              <a:ext uri="{FF2B5EF4-FFF2-40B4-BE49-F238E27FC236}">
                <a16:creationId xmlns:a16="http://schemas.microsoft.com/office/drawing/2014/main" id="{35AB8653-41CF-B282-1CB9-DD2F2C46C922}"/>
              </a:ext>
            </a:extLst>
          </p:cNvPr>
          <p:cNvSpPr txBox="1"/>
          <p:nvPr/>
        </p:nvSpPr>
        <p:spPr>
          <a:xfrm>
            <a:off x="3210571" y="3429000"/>
            <a:ext cx="7989652" cy="923330"/>
          </a:xfrm>
          <a:prstGeom prst="rect">
            <a:avLst/>
          </a:prstGeom>
          <a:noFill/>
        </p:spPr>
        <p:txBody>
          <a:bodyPr wrap="square" rtlCol="0">
            <a:spAutoFit/>
          </a:bodyPr>
          <a:lstStyle/>
          <a:p>
            <a:r>
              <a:rPr lang="en-US" dirty="0"/>
              <a:t>"Regression results show the impact of each dimension on the outcome. Sensory (0.188) and Emotional (0.222) have positive effects, while Professional (-0.001) has negligible impact, with an intercept of 2.012."</a:t>
            </a:r>
          </a:p>
        </p:txBody>
      </p:sp>
      <p:graphicFrame>
        <p:nvGraphicFramePr>
          <p:cNvPr id="9" name="Table 8">
            <a:extLst>
              <a:ext uri="{FF2B5EF4-FFF2-40B4-BE49-F238E27FC236}">
                <a16:creationId xmlns:a16="http://schemas.microsoft.com/office/drawing/2014/main" id="{F7377B98-E7EF-869D-8986-B22CCCDFC255}"/>
              </a:ext>
            </a:extLst>
          </p:cNvPr>
          <p:cNvGraphicFramePr>
            <a:graphicFrameLocks noGrp="1"/>
          </p:cNvGraphicFramePr>
          <p:nvPr>
            <p:extLst>
              <p:ext uri="{D42A27DB-BD31-4B8C-83A1-F6EECF244321}">
                <p14:modId xmlns:p14="http://schemas.microsoft.com/office/powerpoint/2010/main" val="2984871559"/>
              </p:ext>
            </p:extLst>
          </p:nvPr>
        </p:nvGraphicFramePr>
        <p:xfrm>
          <a:off x="3298026" y="4540516"/>
          <a:ext cx="8128000" cy="74168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387158972"/>
                    </a:ext>
                  </a:extLst>
                </a:gridCol>
                <a:gridCol w="4064000">
                  <a:extLst>
                    <a:ext uri="{9D8B030D-6E8A-4147-A177-3AD203B41FA5}">
                      <a16:colId xmlns:a16="http://schemas.microsoft.com/office/drawing/2014/main" val="256756346"/>
                    </a:ext>
                  </a:extLst>
                </a:gridCol>
              </a:tblGrid>
              <a:tr h="370840">
                <a:tc>
                  <a:txBody>
                    <a:bodyPr/>
                    <a:lstStyle/>
                    <a:p>
                      <a:r>
                        <a:rPr lang="en-US" sz="1800" b="0" i="0" kern="1200" dirty="0">
                          <a:solidFill>
                            <a:schemeClr val="tx1"/>
                          </a:solidFill>
                          <a:effectLst/>
                          <a:latin typeface="+mn-lt"/>
                          <a:ea typeface="+mn-ea"/>
                          <a:cs typeface="+mn-cs"/>
                        </a:rPr>
                        <a:t>Mean Squared Error (MSE)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0.595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764627"/>
                  </a:ext>
                </a:extLst>
              </a:tr>
              <a:tr h="370840">
                <a:tc>
                  <a:txBody>
                    <a:bodyPr/>
                    <a:lstStyle/>
                    <a:p>
                      <a:r>
                        <a:rPr lang="en-US" sz="1800" b="0" i="0" kern="1200" dirty="0">
                          <a:solidFill>
                            <a:schemeClr val="tx1"/>
                          </a:solidFill>
                          <a:effectLst/>
                          <a:latin typeface="+mn-lt"/>
                          <a:ea typeface="+mn-ea"/>
                          <a:cs typeface="+mn-cs"/>
                        </a:rPr>
                        <a:t>R-squared (R2) Score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0.088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278061"/>
                  </a:ext>
                </a:extLst>
              </a:tr>
            </a:tbl>
          </a:graphicData>
        </a:graphic>
      </p:graphicFrame>
      <p:sp>
        <p:nvSpPr>
          <p:cNvPr id="10" name="TextBox 9">
            <a:extLst>
              <a:ext uri="{FF2B5EF4-FFF2-40B4-BE49-F238E27FC236}">
                <a16:creationId xmlns:a16="http://schemas.microsoft.com/office/drawing/2014/main" id="{91F82C4C-F420-080D-2A5E-ACF8F8457793}"/>
              </a:ext>
            </a:extLst>
          </p:cNvPr>
          <p:cNvSpPr txBox="1"/>
          <p:nvPr/>
        </p:nvSpPr>
        <p:spPr>
          <a:xfrm>
            <a:off x="3298026" y="5648632"/>
            <a:ext cx="8397445" cy="1477328"/>
          </a:xfrm>
          <a:prstGeom prst="rect">
            <a:avLst/>
          </a:prstGeom>
          <a:noFill/>
        </p:spPr>
        <p:txBody>
          <a:bodyPr wrap="square" rtlCol="0">
            <a:spAutoFit/>
          </a:bodyPr>
          <a:lstStyle/>
          <a:p>
            <a:r>
              <a:rPr lang="en-US" b="1" dirty="0"/>
              <a:t>"The model's MSE of 0.595 shows the average prediction error, while the low R² of 0.088 indicates that only about 8.8% of the variation in the outcome is explained by the Sensory, Emotional, and Professional dimensions. This suggests that other factors may play a larger role."</a:t>
            </a:r>
            <a:endParaRPr lang="en-US" dirty="0"/>
          </a:p>
          <a:p>
            <a:endParaRPr lang="en-US" b="1" dirty="0"/>
          </a:p>
        </p:txBody>
      </p:sp>
    </p:spTree>
    <p:extLst>
      <p:ext uri="{BB962C8B-B14F-4D97-AF65-F5344CB8AC3E}">
        <p14:creationId xmlns:p14="http://schemas.microsoft.com/office/powerpoint/2010/main" val="2164055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C0D7E-CE1C-4511-7E92-A2F2D7D6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26986-D248-27F4-0793-17D835AEA896}"/>
              </a:ext>
            </a:extLst>
          </p:cNvPr>
          <p:cNvSpPr>
            <a:spLocks noGrp="1"/>
          </p:cNvSpPr>
          <p:nvPr>
            <p:ph type="title"/>
          </p:nvPr>
        </p:nvSpPr>
        <p:spPr>
          <a:xfrm>
            <a:off x="2926770" y="697420"/>
            <a:ext cx="7965461" cy="994164"/>
          </a:xfrm>
        </p:spPr>
        <p:txBody>
          <a:bodyPr/>
          <a:lstStyle/>
          <a:p>
            <a:r>
              <a:rPr lang="en-US" dirty="0"/>
              <a:t>Regression</a:t>
            </a:r>
          </a:p>
        </p:txBody>
      </p:sp>
      <p:sp>
        <p:nvSpPr>
          <p:cNvPr id="5" name="Rectangle 1">
            <a:extLst>
              <a:ext uri="{FF2B5EF4-FFF2-40B4-BE49-F238E27FC236}">
                <a16:creationId xmlns:a16="http://schemas.microsoft.com/office/drawing/2014/main" id="{BED93618-EBCC-51D3-B1A1-74EB5DB8BE94}"/>
              </a:ext>
            </a:extLst>
          </p:cNvPr>
          <p:cNvSpPr>
            <a:spLocks noGrp="1" noChangeArrowheads="1"/>
          </p:cNvSpPr>
          <p:nvPr>
            <p:ph sz="half" idx="2"/>
          </p:nvPr>
        </p:nvSpPr>
        <p:spPr bwMode="auto">
          <a:xfrm>
            <a:off x="3210571" y="2454480"/>
            <a:ext cx="861854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model’s intercept was </a:t>
            </a:r>
            <a:r>
              <a:rPr kumimoji="0" lang="en-US" altLang="en-US" sz="1800" b="1" i="0" u="none" strike="noStrike" cap="none" normalizeH="0" baseline="0" dirty="0">
                <a:ln>
                  <a:noFill/>
                </a:ln>
                <a:solidFill>
                  <a:schemeClr val="tx1"/>
                </a:solidFill>
                <a:effectLst/>
                <a:latin typeface="Arial" panose="020B0604020202020204" pitchFamily="34" charset="0"/>
              </a:rPr>
              <a:t>3.031</a:t>
            </a:r>
            <a:r>
              <a:rPr kumimoji="0" lang="en-US" altLang="en-US" sz="1800" b="0" i="0" u="none" strike="noStrike" cap="none" normalizeH="0" baseline="0" dirty="0">
                <a:ln>
                  <a:noFill/>
                </a:ln>
                <a:solidFill>
                  <a:schemeClr val="tx1"/>
                </a:solidFill>
                <a:effectLst/>
                <a:latin typeface="Arial" panose="020B0604020202020204" pitchFamily="34" charset="0"/>
              </a:rPr>
              <a:t>, representing the constant value added to the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positive coefficient shows that the first predictor contributes positively to the final regression score.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negative coefficient indicates that the second predictor contributes a small reduction to the regression score.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Together, the intercept and coefficients form the model’s prediction formula for the commitment variable.</a:t>
            </a:r>
          </a:p>
        </p:txBody>
      </p:sp>
      <p:sp>
        <p:nvSpPr>
          <p:cNvPr id="6" name="Slide Number Placeholder 5">
            <a:extLst>
              <a:ext uri="{FF2B5EF4-FFF2-40B4-BE49-F238E27FC236}">
                <a16:creationId xmlns:a16="http://schemas.microsoft.com/office/drawing/2014/main" id="{A6D868D0-E6C9-C04B-7336-3A795B79729F}"/>
              </a:ext>
            </a:extLst>
          </p:cNvPr>
          <p:cNvSpPr>
            <a:spLocks noGrp="1"/>
          </p:cNvSpPr>
          <p:nvPr>
            <p:ph type="sldNum" sz="quarter" idx="10"/>
          </p:nvPr>
        </p:nvSpPr>
        <p:spPr/>
        <p:txBody>
          <a:bodyPr/>
          <a:lstStyle/>
          <a:p>
            <a:fld id="{48F63A3B-78C7-47BE-AE5E-E10140E04643}" type="slidenum">
              <a:rPr lang="en-US" smtClean="0"/>
              <a:pPr/>
              <a:t>25</a:t>
            </a:fld>
            <a:endParaRPr lang="en-US" dirty="0"/>
          </a:p>
        </p:txBody>
      </p:sp>
    </p:spTree>
    <p:extLst>
      <p:ext uri="{BB962C8B-B14F-4D97-AF65-F5344CB8AC3E}">
        <p14:creationId xmlns:p14="http://schemas.microsoft.com/office/powerpoint/2010/main" val="914793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9263-B734-6529-DDB6-896C4DAF7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7ED86-6811-3729-3FBF-0AE965A258E7}"/>
              </a:ext>
            </a:extLst>
          </p:cNvPr>
          <p:cNvSpPr>
            <a:spLocks noGrp="1"/>
          </p:cNvSpPr>
          <p:nvPr>
            <p:ph type="title"/>
          </p:nvPr>
        </p:nvSpPr>
        <p:spPr>
          <a:xfrm>
            <a:off x="3136101" y="495083"/>
            <a:ext cx="7965461" cy="994164"/>
          </a:xfrm>
        </p:spPr>
        <p:txBody>
          <a:bodyPr/>
          <a:lstStyle/>
          <a:p>
            <a:r>
              <a:rPr lang="en-US" dirty="0"/>
              <a:t>correlation</a:t>
            </a:r>
          </a:p>
        </p:txBody>
      </p:sp>
      <p:sp>
        <p:nvSpPr>
          <p:cNvPr id="6" name="Slide Number Placeholder 5">
            <a:extLst>
              <a:ext uri="{FF2B5EF4-FFF2-40B4-BE49-F238E27FC236}">
                <a16:creationId xmlns:a16="http://schemas.microsoft.com/office/drawing/2014/main" id="{D8FA55FD-ADB9-80D5-749C-DCD8FAAFB0BA}"/>
              </a:ext>
            </a:extLst>
          </p:cNvPr>
          <p:cNvSpPr>
            <a:spLocks noGrp="1"/>
          </p:cNvSpPr>
          <p:nvPr>
            <p:ph type="sldNum" sz="quarter" idx="10"/>
          </p:nvPr>
        </p:nvSpPr>
        <p:spPr/>
        <p:txBody>
          <a:bodyPr/>
          <a:lstStyle/>
          <a:p>
            <a:fld id="{48F63A3B-78C7-47BE-AE5E-E10140E04643}" type="slidenum">
              <a:rPr lang="en-US" smtClean="0"/>
              <a:pPr/>
              <a:t>26</a:t>
            </a:fld>
            <a:endParaRPr lang="en-US" dirty="0"/>
          </a:p>
        </p:txBody>
      </p:sp>
      <p:graphicFrame>
        <p:nvGraphicFramePr>
          <p:cNvPr id="3" name="Table 2">
            <a:extLst>
              <a:ext uri="{FF2B5EF4-FFF2-40B4-BE49-F238E27FC236}">
                <a16:creationId xmlns:a16="http://schemas.microsoft.com/office/drawing/2014/main" id="{BFB3461D-20E5-9210-B3BD-382E26393FB2}"/>
              </a:ext>
            </a:extLst>
          </p:cNvPr>
          <p:cNvGraphicFramePr>
            <a:graphicFrameLocks noGrp="1"/>
          </p:cNvGraphicFramePr>
          <p:nvPr>
            <p:extLst>
              <p:ext uri="{D42A27DB-BD31-4B8C-83A1-F6EECF244321}">
                <p14:modId xmlns:p14="http://schemas.microsoft.com/office/powerpoint/2010/main" val="581956345"/>
              </p:ext>
            </p:extLst>
          </p:nvPr>
        </p:nvGraphicFramePr>
        <p:xfrm>
          <a:off x="3298026" y="3967589"/>
          <a:ext cx="8128000" cy="1478280"/>
        </p:xfrm>
        <a:graphic>
          <a:graphicData uri="http://schemas.openxmlformats.org/drawingml/2006/table">
            <a:tbl>
              <a:tblPr firstRow="1" bandRow="1">
                <a:tableStyleId>{3B4B98B0-60AC-42C2-AFA5-B58CD77FA1E5}</a:tableStyleId>
              </a:tblPr>
              <a:tblGrid>
                <a:gridCol w="2032000">
                  <a:extLst>
                    <a:ext uri="{9D8B030D-6E8A-4147-A177-3AD203B41FA5}">
                      <a16:colId xmlns:a16="http://schemas.microsoft.com/office/drawing/2014/main" val="3652455023"/>
                    </a:ext>
                  </a:extLst>
                </a:gridCol>
                <a:gridCol w="2032000">
                  <a:extLst>
                    <a:ext uri="{9D8B030D-6E8A-4147-A177-3AD203B41FA5}">
                      <a16:colId xmlns:a16="http://schemas.microsoft.com/office/drawing/2014/main" val="965425039"/>
                    </a:ext>
                  </a:extLst>
                </a:gridCol>
                <a:gridCol w="2032000">
                  <a:extLst>
                    <a:ext uri="{9D8B030D-6E8A-4147-A177-3AD203B41FA5}">
                      <a16:colId xmlns:a16="http://schemas.microsoft.com/office/drawing/2014/main" val="2794571962"/>
                    </a:ext>
                  </a:extLst>
                </a:gridCol>
                <a:gridCol w="2032000">
                  <a:extLst>
                    <a:ext uri="{9D8B030D-6E8A-4147-A177-3AD203B41FA5}">
                      <a16:colId xmlns:a16="http://schemas.microsoft.com/office/drawing/2014/main" val="143973338"/>
                    </a:ext>
                  </a:extLst>
                </a:gridCol>
              </a:tblGrid>
              <a:tr h="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Sensory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Emotional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Professional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897874"/>
                  </a:ext>
                </a:extLst>
              </a:tr>
              <a:tr h="370840">
                <a:tc>
                  <a:txBody>
                    <a:bodyPr/>
                    <a:lstStyle/>
                    <a:p>
                      <a:r>
                        <a:rPr lang="en-US" sz="1800" b="0" i="0" kern="1200" dirty="0">
                          <a:solidFill>
                            <a:schemeClr val="tx1"/>
                          </a:solidFill>
                          <a:effectLst/>
                          <a:latin typeface="+mn-lt"/>
                          <a:ea typeface="+mn-ea"/>
                          <a:cs typeface="+mn-cs"/>
                        </a:rPr>
                        <a:t>Sensory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0.631223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0.418044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7171524"/>
                  </a:ext>
                </a:extLst>
              </a:tr>
              <a:tr h="370840">
                <a:tc>
                  <a:txBody>
                    <a:bodyPr/>
                    <a:lstStyle/>
                    <a:p>
                      <a:r>
                        <a:rPr lang="en-US" sz="1800" b="0" i="0" kern="1200" dirty="0">
                          <a:solidFill>
                            <a:schemeClr val="tx1"/>
                          </a:solidFill>
                          <a:effectLst/>
                          <a:latin typeface="+mn-lt"/>
                          <a:ea typeface="+mn-ea"/>
                          <a:cs typeface="+mn-cs"/>
                        </a:rPr>
                        <a:t>Emotional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0.631223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0.435745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3454716"/>
                  </a:ext>
                </a:extLst>
              </a:tr>
              <a:tr h="370840">
                <a:tc>
                  <a:txBody>
                    <a:bodyPr/>
                    <a:lstStyle/>
                    <a:p>
                      <a:r>
                        <a:rPr lang="en-US" sz="1800" b="0" i="0" kern="1200" dirty="0">
                          <a:solidFill>
                            <a:schemeClr val="tx1"/>
                          </a:solidFill>
                          <a:effectLst/>
                          <a:latin typeface="+mn-lt"/>
                          <a:ea typeface="+mn-ea"/>
                          <a:cs typeface="+mn-cs"/>
                        </a:rPr>
                        <a:t>Professional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0.418044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0.435745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1.000000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2722579"/>
                  </a:ext>
                </a:extLst>
              </a:tr>
            </a:tbl>
          </a:graphicData>
        </a:graphic>
      </p:graphicFrame>
      <p:sp>
        <p:nvSpPr>
          <p:cNvPr id="4" name="TextBox 3">
            <a:extLst>
              <a:ext uri="{FF2B5EF4-FFF2-40B4-BE49-F238E27FC236}">
                <a16:creationId xmlns:a16="http://schemas.microsoft.com/office/drawing/2014/main" id="{BDF3E548-29E6-DD6B-A9F6-0353AA1E6FF1}"/>
              </a:ext>
            </a:extLst>
          </p:cNvPr>
          <p:cNvSpPr txBox="1"/>
          <p:nvPr/>
        </p:nvSpPr>
        <p:spPr>
          <a:xfrm>
            <a:off x="3298026" y="1880752"/>
            <a:ext cx="7315200" cy="1754326"/>
          </a:xfrm>
          <a:prstGeom prst="rect">
            <a:avLst/>
          </a:prstGeom>
          <a:noFill/>
        </p:spPr>
        <p:txBody>
          <a:bodyPr wrap="square" rtlCol="0">
            <a:spAutoFit/>
          </a:bodyPr>
          <a:lstStyle/>
          <a:p>
            <a:r>
              <a:rPr lang="en-US" b="1" dirty="0"/>
              <a:t>"The table shows the correlations between the survey dimensions. Sensory and Emotional are moderately correlated, while Sensory and Professional, and Emotional and Professional, show weaker correlations. Each dimension measures a distinct aspect of the patient experience."</a:t>
            </a:r>
            <a:endParaRPr lang="en-US" dirty="0"/>
          </a:p>
          <a:p>
            <a:endParaRPr lang="en-US" dirty="0"/>
          </a:p>
        </p:txBody>
      </p:sp>
    </p:spTree>
    <p:extLst>
      <p:ext uri="{BB962C8B-B14F-4D97-AF65-F5344CB8AC3E}">
        <p14:creationId xmlns:p14="http://schemas.microsoft.com/office/powerpoint/2010/main" val="2477544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D6B982-CDED-EE6E-5ABD-0992B5B9026D}"/>
              </a:ext>
            </a:extLst>
          </p:cNvPr>
          <p:cNvSpPr>
            <a:spLocks noGrp="1"/>
          </p:cNvSpPr>
          <p:nvPr>
            <p:ph type="sldNum" sz="quarter" idx="12"/>
          </p:nvPr>
        </p:nvSpPr>
        <p:spPr/>
        <p:txBody>
          <a:bodyPr/>
          <a:lstStyle/>
          <a:p>
            <a:fld id="{48F63A3B-78C7-47BE-AE5E-E10140E04643}" type="slidenum">
              <a:rPr lang="en-US" smtClean="0"/>
              <a:pPr/>
              <a:t>27</a:t>
            </a:fld>
            <a:endParaRPr lang="en-US" dirty="0"/>
          </a:p>
        </p:txBody>
      </p:sp>
      <p:pic>
        <p:nvPicPr>
          <p:cNvPr id="13" name="Picture 12">
            <a:extLst>
              <a:ext uri="{FF2B5EF4-FFF2-40B4-BE49-F238E27FC236}">
                <a16:creationId xmlns:a16="http://schemas.microsoft.com/office/drawing/2014/main" id="{693E0F5A-ABFC-106E-5795-EDC195D406B0}"/>
              </a:ext>
            </a:extLst>
          </p:cNvPr>
          <p:cNvPicPr>
            <a:picLocks noChangeAspect="1"/>
          </p:cNvPicPr>
          <p:nvPr/>
        </p:nvPicPr>
        <p:blipFill>
          <a:blip r:embed="rId2"/>
          <a:stretch>
            <a:fillRect/>
          </a:stretch>
        </p:blipFill>
        <p:spPr>
          <a:xfrm>
            <a:off x="3394985" y="138112"/>
            <a:ext cx="8630337" cy="6581776"/>
          </a:xfrm>
          <a:prstGeom prst="rect">
            <a:avLst/>
          </a:prstGeom>
        </p:spPr>
      </p:pic>
      <p:sp>
        <p:nvSpPr>
          <p:cNvPr id="11" name="Rectangle 1">
            <a:extLst>
              <a:ext uri="{FF2B5EF4-FFF2-40B4-BE49-F238E27FC236}">
                <a16:creationId xmlns:a16="http://schemas.microsoft.com/office/drawing/2014/main" id="{E41CC8FA-4832-96E5-8768-54E477384D9A}"/>
              </a:ext>
            </a:extLst>
          </p:cNvPr>
          <p:cNvSpPr txBox="1">
            <a:spLocks noChangeArrowheads="1"/>
          </p:cNvSpPr>
          <p:nvPr/>
        </p:nvSpPr>
        <p:spPr bwMode="auto">
          <a:xfrm>
            <a:off x="166678" y="1211401"/>
            <a:ext cx="399397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The correlation matrix displays numerical correlation values between every pair of survey questions.</a:t>
            </a:r>
          </a:p>
          <a:p>
            <a:pPr marL="0" indent="0" eaLnBrk="0" fontAlgn="base" hangingPunct="0">
              <a:spcBef>
                <a:spcPct val="0"/>
              </a:spcBef>
              <a:spcAft>
                <a:spcPct val="0"/>
              </a:spcAft>
              <a:buFontTx/>
              <a:buChar char="•"/>
            </a:pPr>
            <a:endParaRPr lang="en-US" altLang="en-US" sz="18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The diagonal of the matrix contains </a:t>
            </a:r>
            <a:r>
              <a:rPr lang="en-US" altLang="en-US" sz="1800" b="1" dirty="0">
                <a:solidFill>
                  <a:schemeClr val="tx1"/>
                </a:solidFill>
                <a:latin typeface="Arial" panose="020B0604020202020204" pitchFamily="34" charset="0"/>
              </a:rPr>
              <a:t>1.0</a:t>
            </a:r>
            <a:r>
              <a:rPr lang="en-US" altLang="en-US" sz="1800" dirty="0">
                <a:solidFill>
                  <a:schemeClr val="tx1"/>
                </a:solidFill>
                <a:latin typeface="Arial" panose="020B0604020202020204" pitchFamily="34" charset="0"/>
              </a:rPr>
              <a:t>, representing each item’s correlation with itself.</a:t>
            </a:r>
          </a:p>
          <a:p>
            <a:pPr marL="0" indent="0" eaLnBrk="0" fontAlgn="base" hangingPunct="0">
              <a:spcBef>
                <a:spcPct val="0"/>
              </a:spcBef>
              <a:spcAft>
                <a:spcPct val="0"/>
              </a:spcAft>
              <a:buFontTx/>
              <a:buChar char="•"/>
            </a:pPr>
            <a:endParaRPr lang="en-US" altLang="en-US" sz="18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The heatmap uses color gradients where </a:t>
            </a:r>
            <a:r>
              <a:rPr lang="en-US" altLang="en-US" sz="1800" b="1" dirty="0">
                <a:solidFill>
                  <a:schemeClr val="tx1"/>
                </a:solidFill>
                <a:latin typeface="Arial" panose="020B0604020202020204" pitchFamily="34" charset="0"/>
              </a:rPr>
              <a:t>warm colors</a:t>
            </a:r>
            <a:r>
              <a:rPr lang="en-US" altLang="en-US" sz="1800" dirty="0">
                <a:solidFill>
                  <a:schemeClr val="tx1"/>
                </a:solidFill>
                <a:latin typeface="Arial" panose="020B0604020202020204" pitchFamily="34" charset="0"/>
              </a:rPr>
              <a:t> correspond to higher correlation values, and </a:t>
            </a:r>
            <a:r>
              <a:rPr lang="en-US" altLang="en-US" sz="1800" b="1" dirty="0">
                <a:solidFill>
                  <a:schemeClr val="tx1"/>
                </a:solidFill>
                <a:latin typeface="Arial" panose="020B0604020202020204" pitchFamily="34" charset="0"/>
              </a:rPr>
              <a:t>cool colors</a:t>
            </a:r>
            <a:r>
              <a:rPr lang="en-US" altLang="en-US" sz="1800" dirty="0">
                <a:solidFill>
                  <a:schemeClr val="tx1"/>
                </a:solidFill>
                <a:latin typeface="Arial" panose="020B0604020202020204" pitchFamily="34" charset="0"/>
              </a:rPr>
              <a:t> correspond to lower values.</a:t>
            </a:r>
          </a:p>
          <a:p>
            <a:pPr marL="0" indent="0" eaLnBrk="0" fontAlgn="base" hangingPunct="0">
              <a:spcBef>
                <a:spcPct val="0"/>
              </a:spcBef>
              <a:spcAft>
                <a:spcPct val="0"/>
              </a:spcAft>
              <a:buFontTx/>
              <a:buChar char="•"/>
            </a:pPr>
            <a:endParaRPr lang="en-US" altLang="en-US" sz="18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Each cell in the matrix shows the computed correlation between two specific survey items.</a:t>
            </a:r>
          </a:p>
          <a:p>
            <a:pPr marL="0" indent="0" eaLnBrk="0" fontAlgn="base" hangingPunct="0">
              <a:spcBef>
                <a:spcPct val="0"/>
              </a:spcBef>
              <a:spcAft>
                <a:spcPct val="0"/>
              </a:spcAft>
              <a:buFontTx/>
              <a:buChar char="•"/>
            </a:pPr>
            <a:endParaRPr lang="en-US" altLang="en-US" sz="18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The figure provides a full grid of correlations, showing how all items relate to one another numerically.</a:t>
            </a:r>
          </a:p>
        </p:txBody>
      </p:sp>
      <p:sp>
        <p:nvSpPr>
          <p:cNvPr id="3" name="TextBox 2">
            <a:extLst>
              <a:ext uri="{FF2B5EF4-FFF2-40B4-BE49-F238E27FC236}">
                <a16:creationId xmlns:a16="http://schemas.microsoft.com/office/drawing/2014/main" id="{4A3C8B67-2FAF-8BD5-A9BF-BBDBF7F75DAA}"/>
              </a:ext>
            </a:extLst>
          </p:cNvPr>
          <p:cNvSpPr txBox="1"/>
          <p:nvPr/>
        </p:nvSpPr>
        <p:spPr>
          <a:xfrm>
            <a:off x="166678" y="240037"/>
            <a:ext cx="3829589" cy="984885"/>
          </a:xfrm>
          <a:prstGeom prst="rect">
            <a:avLst/>
          </a:prstGeom>
          <a:noFill/>
        </p:spPr>
        <p:txBody>
          <a:bodyPr wrap="square" rtlCol="0">
            <a:spAutoFit/>
          </a:bodyPr>
          <a:lstStyle/>
          <a:p>
            <a:r>
              <a:rPr lang="en-US" sz="2000" b="1" u="sng" dirty="0"/>
              <a:t>Correlation Matrix of Survey Questions</a:t>
            </a:r>
          </a:p>
          <a:p>
            <a:endParaRPr lang="en-US" dirty="0"/>
          </a:p>
        </p:txBody>
      </p:sp>
    </p:spTree>
    <p:extLst>
      <p:ext uri="{BB962C8B-B14F-4D97-AF65-F5344CB8AC3E}">
        <p14:creationId xmlns:p14="http://schemas.microsoft.com/office/powerpoint/2010/main" val="4252032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21F161-40F7-7D4C-F7D2-08679B8F41CC}"/>
              </a:ext>
            </a:extLst>
          </p:cNvPr>
          <p:cNvSpPr txBox="1">
            <a:spLocks/>
          </p:cNvSpPr>
          <p:nvPr/>
        </p:nvSpPr>
        <p:spPr>
          <a:xfrm>
            <a:off x="3056684" y="2507986"/>
            <a:ext cx="8277360" cy="1645179"/>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US" sz="5400" dirty="0"/>
              <a:t>visualizations</a:t>
            </a:r>
            <a:endParaRPr lang="en-US" sz="2800" dirty="0"/>
          </a:p>
        </p:txBody>
      </p:sp>
      <p:sp>
        <p:nvSpPr>
          <p:cNvPr id="6" name="Slide Number Placeholder 5">
            <a:extLst>
              <a:ext uri="{FF2B5EF4-FFF2-40B4-BE49-F238E27FC236}">
                <a16:creationId xmlns:a16="http://schemas.microsoft.com/office/drawing/2014/main" id="{65206B7D-7854-D08A-8242-997A1B3338A3}"/>
              </a:ext>
            </a:extLst>
          </p:cNvPr>
          <p:cNvSpPr>
            <a:spLocks noGrp="1"/>
          </p:cNvSpPr>
          <p:nvPr>
            <p:ph type="sldNum" sz="quarter" idx="10"/>
          </p:nvPr>
        </p:nvSpPr>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2485527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text and blue bars&#10;&#10;AI-generated content may be incorrect.">
            <a:extLst>
              <a:ext uri="{FF2B5EF4-FFF2-40B4-BE49-F238E27FC236}">
                <a16:creationId xmlns:a16="http://schemas.microsoft.com/office/drawing/2014/main" id="{049FE1CC-BD20-7D94-996F-AA2865838736}"/>
              </a:ext>
            </a:extLst>
          </p:cNvPr>
          <p:cNvPicPr>
            <a:picLocks noChangeAspect="1"/>
          </p:cNvPicPr>
          <p:nvPr/>
        </p:nvPicPr>
        <p:blipFill>
          <a:blip r:embed="rId2"/>
          <a:stretch>
            <a:fillRect/>
          </a:stretch>
        </p:blipFill>
        <p:spPr>
          <a:xfrm>
            <a:off x="580311" y="2200433"/>
            <a:ext cx="11340756" cy="4448724"/>
          </a:xfrm>
          <a:prstGeom prst="rect">
            <a:avLst/>
          </a:prstGeom>
        </p:spPr>
      </p:pic>
      <p:sp>
        <p:nvSpPr>
          <p:cNvPr id="6" name="TextBox 5">
            <a:extLst>
              <a:ext uri="{FF2B5EF4-FFF2-40B4-BE49-F238E27FC236}">
                <a16:creationId xmlns:a16="http://schemas.microsoft.com/office/drawing/2014/main" id="{005A09B0-C4CB-3DCA-7888-1B08DA38F7F9}"/>
              </a:ext>
            </a:extLst>
          </p:cNvPr>
          <p:cNvSpPr txBox="1"/>
          <p:nvPr/>
        </p:nvSpPr>
        <p:spPr>
          <a:xfrm>
            <a:off x="931333" y="1049867"/>
            <a:ext cx="11068756" cy="1200329"/>
          </a:xfrm>
          <a:prstGeom prst="rect">
            <a:avLst/>
          </a:prstGeom>
          <a:noFill/>
        </p:spPr>
        <p:txBody>
          <a:bodyPr wrap="square" rtlCol="0">
            <a:spAutoFit/>
          </a:bodyPr>
          <a:lstStyle/>
          <a:p>
            <a:r>
              <a:rPr lang="en-US" b="1" dirty="0"/>
              <a:t>This plot which calculates how strongly each survey question is correlated with the main recommendation question and visualizes the most influential questions using a bar chart.</a:t>
            </a:r>
          </a:p>
          <a:p>
            <a:br>
              <a:rPr lang="en-US" dirty="0"/>
            </a:br>
            <a:endParaRPr lang="en-US" dirty="0"/>
          </a:p>
        </p:txBody>
      </p:sp>
      <p:sp>
        <p:nvSpPr>
          <p:cNvPr id="7" name="Slide Number Placeholder 6">
            <a:extLst>
              <a:ext uri="{FF2B5EF4-FFF2-40B4-BE49-F238E27FC236}">
                <a16:creationId xmlns:a16="http://schemas.microsoft.com/office/drawing/2014/main" id="{9DB49A4B-FE15-E3D6-E4E7-AAA787C68E93}"/>
              </a:ext>
            </a:extLst>
          </p:cNvPr>
          <p:cNvSpPr>
            <a:spLocks noGrp="1"/>
          </p:cNvSpPr>
          <p:nvPr>
            <p:ph type="sldNum" sz="quarter" idx="12"/>
          </p:nvPr>
        </p:nvSpPr>
        <p:spPr/>
        <p:txBody>
          <a:bodyPr/>
          <a:lstStyle/>
          <a:p>
            <a:fld id="{48F63A3B-78C7-47BE-AE5E-E10140E04643}" type="slidenum">
              <a:rPr lang="en-US" smtClean="0"/>
              <a:pPr/>
              <a:t>29</a:t>
            </a:fld>
            <a:endParaRPr lang="en-US" dirty="0"/>
          </a:p>
        </p:txBody>
      </p:sp>
    </p:spTree>
    <p:extLst>
      <p:ext uri="{BB962C8B-B14F-4D97-AF65-F5344CB8AC3E}">
        <p14:creationId xmlns:p14="http://schemas.microsoft.com/office/powerpoint/2010/main" val="562237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images of text">
            <a:extLst>
              <a:ext uri="{FF2B5EF4-FFF2-40B4-BE49-F238E27FC236}">
                <a16:creationId xmlns:a16="http://schemas.microsoft.com/office/drawing/2014/main" id="{CDC67D35-54F3-0B34-2C6B-54E8F0BC30E8}"/>
              </a:ext>
            </a:extLst>
          </p:cNvPr>
          <p:cNvPicPr>
            <a:picLocks noChangeAspect="1"/>
          </p:cNvPicPr>
          <p:nvPr/>
        </p:nvPicPr>
        <p:blipFill>
          <a:blip r:embed="rId2"/>
          <a:stretch>
            <a:fillRect/>
          </a:stretch>
        </p:blipFill>
        <p:spPr>
          <a:xfrm>
            <a:off x="3160890" y="0"/>
            <a:ext cx="8883974" cy="7089422"/>
          </a:xfrm>
          <a:prstGeom prst="rect">
            <a:avLst/>
          </a:prstGeom>
        </p:spPr>
      </p:pic>
      <p:sp>
        <p:nvSpPr>
          <p:cNvPr id="5" name="TextBox 4">
            <a:extLst>
              <a:ext uri="{FF2B5EF4-FFF2-40B4-BE49-F238E27FC236}">
                <a16:creationId xmlns:a16="http://schemas.microsoft.com/office/drawing/2014/main" id="{E119BD54-DEDD-D98A-B88A-74DF0ADCB2A9}"/>
              </a:ext>
            </a:extLst>
          </p:cNvPr>
          <p:cNvSpPr txBox="1"/>
          <p:nvPr/>
        </p:nvSpPr>
        <p:spPr>
          <a:xfrm>
            <a:off x="191911" y="2348088"/>
            <a:ext cx="2641600" cy="3139321"/>
          </a:xfrm>
          <a:prstGeom prst="rect">
            <a:avLst/>
          </a:prstGeom>
          <a:noFill/>
        </p:spPr>
        <p:txBody>
          <a:bodyPr wrap="square" rtlCol="0">
            <a:spAutoFit/>
          </a:bodyPr>
          <a:lstStyle/>
          <a:p>
            <a:r>
              <a:rPr lang="en-US" b="1" dirty="0"/>
              <a:t>This plot which calculates correlations among all Likert-scale questions and visualizes them in a heatmap to show how each question relates to the commitment outcome.</a:t>
            </a:r>
          </a:p>
          <a:p>
            <a:br>
              <a:rPr lang="en-US" dirty="0"/>
            </a:br>
            <a:endParaRPr lang="en-US" dirty="0"/>
          </a:p>
          <a:p>
            <a:endParaRPr lang="en-US" dirty="0"/>
          </a:p>
        </p:txBody>
      </p:sp>
      <p:sp>
        <p:nvSpPr>
          <p:cNvPr id="6" name="TextBox 5">
            <a:extLst>
              <a:ext uri="{FF2B5EF4-FFF2-40B4-BE49-F238E27FC236}">
                <a16:creationId xmlns:a16="http://schemas.microsoft.com/office/drawing/2014/main" id="{1215BF6E-715C-1D0A-9003-2C386394162E}"/>
              </a:ext>
            </a:extLst>
          </p:cNvPr>
          <p:cNvSpPr txBox="1"/>
          <p:nvPr/>
        </p:nvSpPr>
        <p:spPr>
          <a:xfrm>
            <a:off x="338667" y="508000"/>
            <a:ext cx="2641600" cy="1292662"/>
          </a:xfrm>
          <a:prstGeom prst="rect">
            <a:avLst/>
          </a:prstGeom>
          <a:noFill/>
        </p:spPr>
        <p:txBody>
          <a:bodyPr wrap="square" rtlCol="0">
            <a:spAutoFit/>
          </a:bodyPr>
          <a:lstStyle/>
          <a:p>
            <a:r>
              <a:rPr lang="en-US" sz="2000" b="1" u="sng" dirty="0"/>
              <a:t>Correlation Matrix of All Questions with Commitment</a:t>
            </a:r>
          </a:p>
          <a:p>
            <a:endParaRPr lang="en-US" dirty="0"/>
          </a:p>
        </p:txBody>
      </p:sp>
      <p:sp>
        <p:nvSpPr>
          <p:cNvPr id="7" name="Slide Number Placeholder 6">
            <a:extLst>
              <a:ext uri="{FF2B5EF4-FFF2-40B4-BE49-F238E27FC236}">
                <a16:creationId xmlns:a16="http://schemas.microsoft.com/office/drawing/2014/main" id="{80BB010A-6358-4E09-C78A-6FA02C41F33A}"/>
              </a:ext>
            </a:extLst>
          </p:cNvPr>
          <p:cNvSpPr>
            <a:spLocks noGrp="1"/>
          </p:cNvSpPr>
          <p:nvPr>
            <p:ph type="sldNum" sz="quarter" idx="12"/>
          </p:nvPr>
        </p:nvSpPr>
        <p:spPr>
          <a:xfrm>
            <a:off x="10788430" y="6735748"/>
            <a:ext cx="987552" cy="244503"/>
          </a:xfrm>
        </p:spPr>
        <p:txBody>
          <a:bodyPr/>
          <a:lstStyle/>
          <a:p>
            <a:fld id="{48F63A3B-78C7-47BE-AE5E-E10140E04643}" type="slidenum">
              <a:rPr lang="en-US" smtClean="0"/>
              <a:pPr/>
              <a:t>30</a:t>
            </a:fld>
            <a:endParaRPr lang="en-US" dirty="0"/>
          </a:p>
        </p:txBody>
      </p:sp>
    </p:spTree>
    <p:extLst>
      <p:ext uri="{BB962C8B-B14F-4D97-AF65-F5344CB8AC3E}">
        <p14:creationId xmlns:p14="http://schemas.microsoft.com/office/powerpoint/2010/main" val="3789653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584C4C86-B1DC-F9BA-046D-246279D05301}"/>
              </a:ext>
            </a:extLst>
          </p:cNvPr>
          <p:cNvPicPr>
            <a:picLocks noChangeAspect="1"/>
          </p:cNvPicPr>
          <p:nvPr/>
        </p:nvPicPr>
        <p:blipFill>
          <a:blip r:embed="rId2"/>
          <a:stretch>
            <a:fillRect/>
          </a:stretch>
        </p:blipFill>
        <p:spPr>
          <a:xfrm>
            <a:off x="3533422" y="269487"/>
            <a:ext cx="8319299" cy="6528829"/>
          </a:xfrm>
          <a:prstGeom prst="rect">
            <a:avLst/>
          </a:prstGeom>
        </p:spPr>
      </p:pic>
      <p:sp>
        <p:nvSpPr>
          <p:cNvPr id="2" name="Slide Number Placeholder 1">
            <a:extLst>
              <a:ext uri="{FF2B5EF4-FFF2-40B4-BE49-F238E27FC236}">
                <a16:creationId xmlns:a16="http://schemas.microsoft.com/office/drawing/2014/main" id="{0B19F159-9C14-29BD-6A63-043C0B70B1AA}"/>
              </a:ext>
            </a:extLst>
          </p:cNvPr>
          <p:cNvSpPr>
            <a:spLocks noGrp="1"/>
          </p:cNvSpPr>
          <p:nvPr>
            <p:ph type="sldNum" sz="quarter" idx="12"/>
          </p:nvPr>
        </p:nvSpPr>
        <p:spPr>
          <a:xfrm>
            <a:off x="10865169" y="212696"/>
            <a:ext cx="987552" cy="244503"/>
          </a:xfrm>
        </p:spPr>
        <p:txBody>
          <a:bodyPr/>
          <a:lstStyle/>
          <a:p>
            <a:fld id="{48F63A3B-78C7-47BE-AE5E-E10140E04643}" type="slidenum">
              <a:rPr lang="en-US" smtClean="0"/>
              <a:pPr/>
              <a:t>31</a:t>
            </a:fld>
            <a:endParaRPr lang="en-US" dirty="0"/>
          </a:p>
        </p:txBody>
      </p:sp>
      <p:sp>
        <p:nvSpPr>
          <p:cNvPr id="5" name="TextBox 4">
            <a:extLst>
              <a:ext uri="{FF2B5EF4-FFF2-40B4-BE49-F238E27FC236}">
                <a16:creationId xmlns:a16="http://schemas.microsoft.com/office/drawing/2014/main" id="{B4FF069A-C304-1D73-FA2F-909B087EB0DC}"/>
              </a:ext>
            </a:extLst>
          </p:cNvPr>
          <p:cNvSpPr txBox="1"/>
          <p:nvPr/>
        </p:nvSpPr>
        <p:spPr>
          <a:xfrm>
            <a:off x="79022" y="2813207"/>
            <a:ext cx="3578578" cy="2031325"/>
          </a:xfrm>
          <a:prstGeom prst="rect">
            <a:avLst/>
          </a:prstGeom>
          <a:noFill/>
        </p:spPr>
        <p:txBody>
          <a:bodyPr wrap="square" rtlCol="0">
            <a:spAutoFit/>
          </a:bodyPr>
          <a:lstStyle/>
          <a:p>
            <a:r>
              <a:rPr lang="en-US" b="1" dirty="0"/>
              <a:t> This plot visualizes the regression coefficients to show how each dimension affects commitment.</a:t>
            </a:r>
          </a:p>
          <a:p>
            <a:br>
              <a:rPr lang="en-US" dirty="0"/>
            </a:br>
            <a:endParaRPr lang="en-US" dirty="0"/>
          </a:p>
          <a:p>
            <a:endParaRPr lang="en-US" dirty="0"/>
          </a:p>
        </p:txBody>
      </p:sp>
      <p:sp>
        <p:nvSpPr>
          <p:cNvPr id="6" name="TextBox 5">
            <a:extLst>
              <a:ext uri="{FF2B5EF4-FFF2-40B4-BE49-F238E27FC236}">
                <a16:creationId xmlns:a16="http://schemas.microsoft.com/office/drawing/2014/main" id="{DE3F5AC7-5F90-A879-1499-3909A9C82232}"/>
              </a:ext>
            </a:extLst>
          </p:cNvPr>
          <p:cNvSpPr txBox="1"/>
          <p:nvPr/>
        </p:nvSpPr>
        <p:spPr>
          <a:xfrm>
            <a:off x="79022" y="1194144"/>
            <a:ext cx="3815644" cy="984885"/>
          </a:xfrm>
          <a:prstGeom prst="rect">
            <a:avLst/>
          </a:prstGeom>
          <a:noFill/>
        </p:spPr>
        <p:txBody>
          <a:bodyPr wrap="square" rtlCol="0">
            <a:spAutoFit/>
          </a:bodyPr>
          <a:lstStyle/>
          <a:p>
            <a:r>
              <a:rPr lang="en-US" sz="2000" b="1" u="sng" dirty="0"/>
              <a:t>Impact of Each Dimension on Commitment</a:t>
            </a:r>
          </a:p>
          <a:p>
            <a:endParaRPr lang="en-US" dirty="0"/>
          </a:p>
        </p:txBody>
      </p:sp>
    </p:spTree>
    <p:extLst>
      <p:ext uri="{BB962C8B-B14F-4D97-AF65-F5344CB8AC3E}">
        <p14:creationId xmlns:p14="http://schemas.microsoft.com/office/powerpoint/2010/main" val="1332794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different sizes and numbers&#10;&#10;AI-generated content may be incorrect.">
            <a:extLst>
              <a:ext uri="{FF2B5EF4-FFF2-40B4-BE49-F238E27FC236}">
                <a16:creationId xmlns:a16="http://schemas.microsoft.com/office/drawing/2014/main" id="{39611256-EFF5-3EA8-BDCD-3D997BC0FE02}"/>
              </a:ext>
            </a:extLst>
          </p:cNvPr>
          <p:cNvPicPr>
            <a:picLocks noChangeAspect="1"/>
          </p:cNvPicPr>
          <p:nvPr/>
        </p:nvPicPr>
        <p:blipFill>
          <a:blip r:embed="rId2"/>
          <a:stretch>
            <a:fillRect/>
          </a:stretch>
        </p:blipFill>
        <p:spPr>
          <a:xfrm>
            <a:off x="530579" y="2020711"/>
            <a:ext cx="11277600" cy="4663499"/>
          </a:xfrm>
          <a:prstGeom prst="rect">
            <a:avLst/>
          </a:prstGeom>
        </p:spPr>
      </p:pic>
      <p:sp>
        <p:nvSpPr>
          <p:cNvPr id="5" name="TextBox 4">
            <a:extLst>
              <a:ext uri="{FF2B5EF4-FFF2-40B4-BE49-F238E27FC236}">
                <a16:creationId xmlns:a16="http://schemas.microsoft.com/office/drawing/2014/main" id="{45099B46-92D8-C23B-610B-22CC9DD7BE5C}"/>
              </a:ext>
            </a:extLst>
          </p:cNvPr>
          <p:cNvSpPr txBox="1"/>
          <p:nvPr/>
        </p:nvSpPr>
        <p:spPr>
          <a:xfrm>
            <a:off x="1038578" y="812800"/>
            <a:ext cx="10069689" cy="1538883"/>
          </a:xfrm>
          <a:prstGeom prst="rect">
            <a:avLst/>
          </a:prstGeom>
          <a:noFill/>
        </p:spPr>
        <p:txBody>
          <a:bodyPr wrap="square" rtlCol="0">
            <a:spAutoFit/>
          </a:bodyPr>
          <a:lstStyle/>
          <a:p>
            <a:r>
              <a:rPr lang="en-US" sz="2000" b="1" dirty="0"/>
              <a:t>This plots histograms for the Sensory, Emotional, and Professional dimensions to show the distribution of their scores across respondents.</a:t>
            </a:r>
          </a:p>
          <a:p>
            <a:br>
              <a:rPr lang="en-US" dirty="0"/>
            </a:br>
            <a:endParaRPr lang="en-US" dirty="0"/>
          </a:p>
          <a:p>
            <a:endParaRPr lang="en-US" dirty="0"/>
          </a:p>
        </p:txBody>
      </p:sp>
      <p:sp>
        <p:nvSpPr>
          <p:cNvPr id="6" name="Slide Number Placeholder 5">
            <a:extLst>
              <a:ext uri="{FF2B5EF4-FFF2-40B4-BE49-F238E27FC236}">
                <a16:creationId xmlns:a16="http://schemas.microsoft.com/office/drawing/2014/main" id="{36932630-6173-16EC-CA5B-E51BE090058E}"/>
              </a:ext>
            </a:extLst>
          </p:cNvPr>
          <p:cNvSpPr>
            <a:spLocks noGrp="1"/>
          </p:cNvSpPr>
          <p:nvPr>
            <p:ph type="sldNum" sz="quarter" idx="12"/>
          </p:nvPr>
        </p:nvSpPr>
        <p:spPr/>
        <p:txBody>
          <a:bodyPr/>
          <a:lstStyle/>
          <a:p>
            <a:fld id="{48F63A3B-78C7-47BE-AE5E-E10140E04643}" type="slidenum">
              <a:rPr lang="en-US" smtClean="0"/>
              <a:pPr/>
              <a:t>32</a:t>
            </a:fld>
            <a:endParaRPr lang="en-US" dirty="0"/>
          </a:p>
        </p:txBody>
      </p:sp>
    </p:spTree>
    <p:extLst>
      <p:ext uri="{BB962C8B-B14F-4D97-AF65-F5344CB8AC3E}">
        <p14:creationId xmlns:p14="http://schemas.microsoft.com/office/powerpoint/2010/main" val="3563128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different colored squares&#10;&#10;AI-generated content may be incorrect.">
            <a:extLst>
              <a:ext uri="{FF2B5EF4-FFF2-40B4-BE49-F238E27FC236}">
                <a16:creationId xmlns:a16="http://schemas.microsoft.com/office/drawing/2014/main" id="{A38BD2C9-2353-905E-3B07-B042ADAA3CC6}"/>
              </a:ext>
            </a:extLst>
          </p:cNvPr>
          <p:cNvPicPr>
            <a:picLocks noChangeAspect="1"/>
          </p:cNvPicPr>
          <p:nvPr/>
        </p:nvPicPr>
        <p:blipFill>
          <a:blip r:embed="rId2"/>
          <a:stretch>
            <a:fillRect/>
          </a:stretch>
        </p:blipFill>
        <p:spPr>
          <a:xfrm>
            <a:off x="4425243" y="285939"/>
            <a:ext cx="7281355" cy="6486748"/>
          </a:xfrm>
          <a:prstGeom prst="rect">
            <a:avLst/>
          </a:prstGeom>
        </p:spPr>
      </p:pic>
      <p:sp>
        <p:nvSpPr>
          <p:cNvPr id="5" name="TextBox 4">
            <a:extLst>
              <a:ext uri="{FF2B5EF4-FFF2-40B4-BE49-F238E27FC236}">
                <a16:creationId xmlns:a16="http://schemas.microsoft.com/office/drawing/2014/main" id="{4C808C17-DD2F-9805-1060-DDA1E982C3DC}"/>
              </a:ext>
            </a:extLst>
          </p:cNvPr>
          <p:cNvSpPr txBox="1"/>
          <p:nvPr/>
        </p:nvSpPr>
        <p:spPr>
          <a:xfrm>
            <a:off x="158044" y="2298206"/>
            <a:ext cx="3962400" cy="2462213"/>
          </a:xfrm>
          <a:prstGeom prst="rect">
            <a:avLst/>
          </a:prstGeom>
          <a:noFill/>
        </p:spPr>
        <p:txBody>
          <a:bodyPr wrap="square" rtlCol="0">
            <a:spAutoFit/>
          </a:bodyPr>
          <a:lstStyle/>
          <a:p>
            <a:r>
              <a:rPr lang="en-US" sz="2000" b="1" dirty="0"/>
              <a:t>A boxplot for the Sensory, Emotional, and Professional dimensions to visualize their distributions and identify potential outliers.</a:t>
            </a:r>
          </a:p>
          <a:p>
            <a:br>
              <a:rPr lang="en-US" dirty="0"/>
            </a:br>
            <a:endParaRPr lang="en-US" dirty="0"/>
          </a:p>
          <a:p>
            <a:endParaRPr lang="en-US" dirty="0"/>
          </a:p>
        </p:txBody>
      </p:sp>
      <p:sp>
        <p:nvSpPr>
          <p:cNvPr id="6" name="Slide Number Placeholder 5">
            <a:extLst>
              <a:ext uri="{FF2B5EF4-FFF2-40B4-BE49-F238E27FC236}">
                <a16:creationId xmlns:a16="http://schemas.microsoft.com/office/drawing/2014/main" id="{17E83935-853B-6486-BBCC-05349BB30C59}"/>
              </a:ext>
            </a:extLst>
          </p:cNvPr>
          <p:cNvSpPr>
            <a:spLocks noGrp="1"/>
          </p:cNvSpPr>
          <p:nvPr>
            <p:ph type="sldNum" sz="quarter" idx="12"/>
          </p:nvPr>
        </p:nvSpPr>
        <p:spPr>
          <a:xfrm>
            <a:off x="10719046" y="276441"/>
            <a:ext cx="987552" cy="244503"/>
          </a:xfrm>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236339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blue dots&#10;&#10;AI-generated content may be incorrect.">
            <a:extLst>
              <a:ext uri="{FF2B5EF4-FFF2-40B4-BE49-F238E27FC236}">
                <a16:creationId xmlns:a16="http://schemas.microsoft.com/office/drawing/2014/main" id="{56C9BE0C-51BB-4020-38BD-1D7B077BB617}"/>
              </a:ext>
            </a:extLst>
          </p:cNvPr>
          <p:cNvPicPr>
            <a:picLocks noChangeAspect="1"/>
          </p:cNvPicPr>
          <p:nvPr/>
        </p:nvPicPr>
        <p:blipFill>
          <a:blip r:embed="rId2"/>
          <a:stretch>
            <a:fillRect/>
          </a:stretch>
        </p:blipFill>
        <p:spPr>
          <a:xfrm>
            <a:off x="0" y="2517422"/>
            <a:ext cx="12069464" cy="4063999"/>
          </a:xfrm>
          <a:prstGeom prst="rect">
            <a:avLst/>
          </a:prstGeom>
        </p:spPr>
      </p:pic>
      <p:sp>
        <p:nvSpPr>
          <p:cNvPr id="5" name="TextBox 4">
            <a:extLst>
              <a:ext uri="{FF2B5EF4-FFF2-40B4-BE49-F238E27FC236}">
                <a16:creationId xmlns:a16="http://schemas.microsoft.com/office/drawing/2014/main" id="{8AAF93B7-493B-F16F-C2DE-61C2559F9998}"/>
              </a:ext>
            </a:extLst>
          </p:cNvPr>
          <p:cNvSpPr txBox="1"/>
          <p:nvPr/>
        </p:nvSpPr>
        <p:spPr>
          <a:xfrm>
            <a:off x="959555" y="784576"/>
            <a:ext cx="9866489" cy="1538883"/>
          </a:xfrm>
          <a:prstGeom prst="rect">
            <a:avLst/>
          </a:prstGeom>
          <a:noFill/>
        </p:spPr>
        <p:txBody>
          <a:bodyPr wrap="square" rtlCol="0">
            <a:spAutoFit/>
          </a:bodyPr>
          <a:lstStyle/>
          <a:p>
            <a:r>
              <a:rPr lang="en-US" sz="2000" b="1" dirty="0"/>
              <a:t>scatter plots of each dimension (Sensory, Emotional, Professional) against the commitment variable to visualize their relationships.</a:t>
            </a:r>
          </a:p>
          <a:p>
            <a:br>
              <a:rPr lang="en-US" dirty="0"/>
            </a:br>
            <a:endParaRPr lang="en-US" dirty="0"/>
          </a:p>
          <a:p>
            <a:endParaRPr lang="en-US" dirty="0"/>
          </a:p>
        </p:txBody>
      </p:sp>
      <p:sp>
        <p:nvSpPr>
          <p:cNvPr id="6" name="Slide Number Placeholder 5">
            <a:extLst>
              <a:ext uri="{FF2B5EF4-FFF2-40B4-BE49-F238E27FC236}">
                <a16:creationId xmlns:a16="http://schemas.microsoft.com/office/drawing/2014/main" id="{05808FF2-6652-AB1D-ADE3-D28BA0C50CD9}"/>
              </a:ext>
            </a:extLst>
          </p:cNvPr>
          <p:cNvSpPr>
            <a:spLocks noGrp="1"/>
          </p:cNvSpPr>
          <p:nvPr>
            <p:ph type="sldNum" sz="quarter" idx="12"/>
          </p:nvPr>
        </p:nvSpPr>
        <p:spPr/>
        <p:txBody>
          <a:bodyPr/>
          <a:lstStyle/>
          <a:p>
            <a:fld id="{48F63A3B-78C7-47BE-AE5E-E10140E04643}" type="slidenum">
              <a:rPr lang="en-US" smtClean="0"/>
              <a:pPr/>
              <a:t>34</a:t>
            </a:fld>
            <a:endParaRPr lang="en-US" dirty="0"/>
          </a:p>
        </p:txBody>
      </p:sp>
    </p:spTree>
    <p:extLst>
      <p:ext uri="{BB962C8B-B14F-4D97-AF65-F5344CB8AC3E}">
        <p14:creationId xmlns:p14="http://schemas.microsoft.com/office/powerpoint/2010/main" val="1597988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98FB24-0449-5EF5-4421-79BF7971B1EF}"/>
              </a:ext>
            </a:extLst>
          </p:cNvPr>
          <p:cNvSpPr>
            <a:spLocks noGrp="1"/>
          </p:cNvSpPr>
          <p:nvPr>
            <p:ph type="sldNum" sz="quarter" idx="12"/>
          </p:nvPr>
        </p:nvSpPr>
        <p:spPr/>
        <p:txBody>
          <a:bodyPr/>
          <a:lstStyle/>
          <a:p>
            <a:fld id="{48F63A3B-78C7-47BE-AE5E-E10140E04643}" type="slidenum">
              <a:rPr lang="en-US" smtClean="0"/>
              <a:pPr/>
              <a:t>35</a:t>
            </a:fld>
            <a:endParaRPr lang="en-US" dirty="0"/>
          </a:p>
        </p:txBody>
      </p:sp>
      <p:pic>
        <p:nvPicPr>
          <p:cNvPr id="4" name="Picture 3" descr="A graph with text and numbers&#10;&#10;AI-generated content may be incorrect.">
            <a:extLst>
              <a:ext uri="{FF2B5EF4-FFF2-40B4-BE49-F238E27FC236}">
                <a16:creationId xmlns:a16="http://schemas.microsoft.com/office/drawing/2014/main" id="{1F07EA9E-7B2F-4345-36A4-DB2230E31735}"/>
              </a:ext>
            </a:extLst>
          </p:cNvPr>
          <p:cNvPicPr>
            <a:picLocks noChangeAspect="1"/>
          </p:cNvPicPr>
          <p:nvPr/>
        </p:nvPicPr>
        <p:blipFill>
          <a:blip r:embed="rId2"/>
          <a:stretch>
            <a:fillRect/>
          </a:stretch>
        </p:blipFill>
        <p:spPr>
          <a:xfrm>
            <a:off x="146755" y="1873054"/>
            <a:ext cx="11898489" cy="4667510"/>
          </a:xfrm>
          <a:prstGeom prst="rect">
            <a:avLst/>
          </a:prstGeom>
        </p:spPr>
      </p:pic>
      <p:sp>
        <p:nvSpPr>
          <p:cNvPr id="5" name="TextBox 4">
            <a:extLst>
              <a:ext uri="{FF2B5EF4-FFF2-40B4-BE49-F238E27FC236}">
                <a16:creationId xmlns:a16="http://schemas.microsoft.com/office/drawing/2014/main" id="{85525AEC-0656-7DE3-6736-B90434C77BB2}"/>
              </a:ext>
            </a:extLst>
          </p:cNvPr>
          <p:cNvSpPr txBox="1"/>
          <p:nvPr/>
        </p:nvSpPr>
        <p:spPr>
          <a:xfrm>
            <a:off x="925689" y="579450"/>
            <a:ext cx="9414933" cy="1292662"/>
          </a:xfrm>
          <a:prstGeom prst="rect">
            <a:avLst/>
          </a:prstGeom>
          <a:noFill/>
        </p:spPr>
        <p:txBody>
          <a:bodyPr wrap="square" rtlCol="0">
            <a:spAutoFit/>
          </a:bodyPr>
          <a:lstStyle/>
          <a:p>
            <a:r>
              <a:rPr lang="en-US" sz="2000" b="1" dirty="0"/>
              <a:t>the correlation of each survey question with the commitment variable and visualizes the results as a horizontal bar chart to highlight the most influential questions.</a:t>
            </a:r>
          </a:p>
          <a:p>
            <a:endParaRPr lang="en-US" dirty="0"/>
          </a:p>
        </p:txBody>
      </p:sp>
    </p:spTree>
    <p:extLst>
      <p:ext uri="{BB962C8B-B14F-4D97-AF65-F5344CB8AC3E}">
        <p14:creationId xmlns:p14="http://schemas.microsoft.com/office/powerpoint/2010/main" val="61887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id of blue dots&#10;&#10;AI-generated content may be incorrect.">
            <a:extLst>
              <a:ext uri="{FF2B5EF4-FFF2-40B4-BE49-F238E27FC236}">
                <a16:creationId xmlns:a16="http://schemas.microsoft.com/office/drawing/2014/main" id="{5A258232-1681-3367-046A-733F7B9C6128}"/>
              </a:ext>
            </a:extLst>
          </p:cNvPr>
          <p:cNvPicPr>
            <a:picLocks noChangeAspect="1"/>
          </p:cNvPicPr>
          <p:nvPr/>
        </p:nvPicPr>
        <p:blipFill>
          <a:blip r:embed="rId2"/>
          <a:stretch>
            <a:fillRect/>
          </a:stretch>
        </p:blipFill>
        <p:spPr>
          <a:xfrm>
            <a:off x="111369" y="2415822"/>
            <a:ext cx="11969262" cy="4289778"/>
          </a:xfrm>
          <a:prstGeom prst="rect">
            <a:avLst/>
          </a:prstGeom>
        </p:spPr>
      </p:pic>
      <p:sp>
        <p:nvSpPr>
          <p:cNvPr id="5" name="TextBox 4">
            <a:extLst>
              <a:ext uri="{FF2B5EF4-FFF2-40B4-BE49-F238E27FC236}">
                <a16:creationId xmlns:a16="http://schemas.microsoft.com/office/drawing/2014/main" id="{D71BDC79-CE51-6FC6-C945-FE240C9E09E0}"/>
              </a:ext>
            </a:extLst>
          </p:cNvPr>
          <p:cNvSpPr txBox="1"/>
          <p:nvPr/>
        </p:nvSpPr>
        <p:spPr>
          <a:xfrm>
            <a:off x="745066" y="949640"/>
            <a:ext cx="9772431" cy="984885"/>
          </a:xfrm>
          <a:prstGeom prst="rect">
            <a:avLst/>
          </a:prstGeom>
          <a:noFill/>
        </p:spPr>
        <p:txBody>
          <a:bodyPr wrap="square" rtlCol="0">
            <a:spAutoFit/>
          </a:bodyPr>
          <a:lstStyle/>
          <a:p>
            <a:r>
              <a:rPr lang="en-US" sz="2000" b="1" dirty="0"/>
              <a:t>scatter plots for the top 5 questions most correlated with commitment to visually examine their relationships with the commitment variable.</a:t>
            </a:r>
          </a:p>
          <a:p>
            <a:endParaRPr lang="en-US" dirty="0"/>
          </a:p>
        </p:txBody>
      </p:sp>
      <p:sp>
        <p:nvSpPr>
          <p:cNvPr id="6" name="Slide Number Placeholder 5">
            <a:extLst>
              <a:ext uri="{FF2B5EF4-FFF2-40B4-BE49-F238E27FC236}">
                <a16:creationId xmlns:a16="http://schemas.microsoft.com/office/drawing/2014/main" id="{F05C3A37-4A2C-5375-84B3-1CBBB1014E61}"/>
              </a:ext>
            </a:extLst>
          </p:cNvPr>
          <p:cNvSpPr>
            <a:spLocks noGrp="1"/>
          </p:cNvSpPr>
          <p:nvPr>
            <p:ph type="sldNum" sz="quarter" idx="12"/>
          </p:nvPr>
        </p:nvSpPr>
        <p:spPr/>
        <p:txBody>
          <a:bodyPr/>
          <a:lstStyle/>
          <a:p>
            <a:fld id="{48F63A3B-78C7-47BE-AE5E-E10140E04643}" type="slidenum">
              <a:rPr lang="en-US" smtClean="0"/>
              <a:pPr/>
              <a:t>36</a:t>
            </a:fld>
            <a:endParaRPr lang="en-US" dirty="0"/>
          </a:p>
        </p:txBody>
      </p:sp>
    </p:spTree>
    <p:extLst>
      <p:ext uri="{BB962C8B-B14F-4D97-AF65-F5344CB8AC3E}">
        <p14:creationId xmlns:p14="http://schemas.microsoft.com/office/powerpoint/2010/main" val="3492921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person and person&#10;&#10;AI-generated content may be incorrect.">
            <a:extLst>
              <a:ext uri="{FF2B5EF4-FFF2-40B4-BE49-F238E27FC236}">
                <a16:creationId xmlns:a16="http://schemas.microsoft.com/office/drawing/2014/main" id="{C4AC8FA7-5F93-9BFA-E2CD-017F3804FD9E}"/>
              </a:ext>
            </a:extLst>
          </p:cNvPr>
          <p:cNvPicPr>
            <a:picLocks noChangeAspect="1"/>
          </p:cNvPicPr>
          <p:nvPr/>
        </p:nvPicPr>
        <p:blipFill>
          <a:blip r:embed="rId2"/>
          <a:stretch>
            <a:fillRect/>
          </a:stretch>
        </p:blipFill>
        <p:spPr>
          <a:xfrm>
            <a:off x="409576" y="156103"/>
            <a:ext cx="5276850" cy="4676775"/>
          </a:xfrm>
          <a:prstGeom prst="rect">
            <a:avLst/>
          </a:prstGeom>
        </p:spPr>
      </p:pic>
      <p:pic>
        <p:nvPicPr>
          <p:cNvPr id="6" name="Picture 5" descr="A graph with green bars&#10;&#10;AI-generated content may be incorrect.">
            <a:extLst>
              <a:ext uri="{FF2B5EF4-FFF2-40B4-BE49-F238E27FC236}">
                <a16:creationId xmlns:a16="http://schemas.microsoft.com/office/drawing/2014/main" id="{F2289CCD-9F85-5F81-2688-528D0FFDF109}"/>
              </a:ext>
            </a:extLst>
          </p:cNvPr>
          <p:cNvPicPr>
            <a:picLocks noChangeAspect="1"/>
          </p:cNvPicPr>
          <p:nvPr/>
        </p:nvPicPr>
        <p:blipFill>
          <a:blip r:embed="rId3"/>
          <a:stretch>
            <a:fillRect/>
          </a:stretch>
        </p:blipFill>
        <p:spPr>
          <a:xfrm>
            <a:off x="6245930" y="156103"/>
            <a:ext cx="5276850" cy="4581525"/>
          </a:xfrm>
          <a:prstGeom prst="rect">
            <a:avLst/>
          </a:prstGeom>
        </p:spPr>
      </p:pic>
      <p:sp>
        <p:nvSpPr>
          <p:cNvPr id="7" name="TextBox 6">
            <a:extLst>
              <a:ext uri="{FF2B5EF4-FFF2-40B4-BE49-F238E27FC236}">
                <a16:creationId xmlns:a16="http://schemas.microsoft.com/office/drawing/2014/main" id="{6FF362D0-26D6-25D3-D6DD-C2EB15966444}"/>
              </a:ext>
            </a:extLst>
          </p:cNvPr>
          <p:cNvSpPr txBox="1"/>
          <p:nvPr/>
        </p:nvSpPr>
        <p:spPr>
          <a:xfrm>
            <a:off x="6468532" y="4737628"/>
            <a:ext cx="5508979" cy="2031325"/>
          </a:xfrm>
          <a:prstGeom prst="rect">
            <a:avLst/>
          </a:prstGeom>
          <a:noFill/>
        </p:spPr>
        <p:txBody>
          <a:bodyPr wrap="square" rtlCol="0">
            <a:spAutoFit/>
          </a:bodyPr>
          <a:lstStyle/>
          <a:p>
            <a:pPr fontAlgn="base"/>
            <a:r>
              <a:rPr lang="en-US" b="1" dirty="0"/>
              <a:t>Patients aged 18–25 showed the highest commitment level (3.63), followed by ages 26–35 (3.52). The commitment slightly decreases in the 36–45 group (3.43), and no valid data was available for ages 46–60. This indicates that younger patients tend to be slightly more committed to the dental practice.</a:t>
            </a:r>
          </a:p>
        </p:txBody>
      </p:sp>
      <p:sp>
        <p:nvSpPr>
          <p:cNvPr id="11" name="TextBox 10">
            <a:extLst>
              <a:ext uri="{FF2B5EF4-FFF2-40B4-BE49-F238E27FC236}">
                <a16:creationId xmlns:a16="http://schemas.microsoft.com/office/drawing/2014/main" id="{0B690095-DD50-064F-9823-4A98A504108F}"/>
              </a:ext>
            </a:extLst>
          </p:cNvPr>
          <p:cNvSpPr txBox="1"/>
          <p:nvPr/>
        </p:nvSpPr>
        <p:spPr>
          <a:xfrm>
            <a:off x="669220" y="4955822"/>
            <a:ext cx="4591402" cy="1754326"/>
          </a:xfrm>
          <a:prstGeom prst="rect">
            <a:avLst/>
          </a:prstGeom>
          <a:noFill/>
        </p:spPr>
        <p:txBody>
          <a:bodyPr wrap="square" rtlCol="0">
            <a:spAutoFit/>
          </a:bodyPr>
          <a:lstStyle/>
          <a:p>
            <a:r>
              <a:rPr lang="en-US" b="1" dirty="0"/>
              <a:t>Female patients demonstrated a slightly higher commitment level (3.63) compared to male patients (3.50), suggesting that females show marginally stronger loyalty toward the dental practice.</a:t>
            </a:r>
          </a:p>
          <a:p>
            <a:endParaRPr lang="en-US" dirty="0"/>
          </a:p>
        </p:txBody>
      </p:sp>
      <p:sp>
        <p:nvSpPr>
          <p:cNvPr id="12" name="Slide Number Placeholder 11">
            <a:extLst>
              <a:ext uri="{FF2B5EF4-FFF2-40B4-BE49-F238E27FC236}">
                <a16:creationId xmlns:a16="http://schemas.microsoft.com/office/drawing/2014/main" id="{2468AF25-DFE9-4086-2B82-9CA594AF3E51}"/>
              </a:ext>
            </a:extLst>
          </p:cNvPr>
          <p:cNvSpPr>
            <a:spLocks noGrp="1"/>
          </p:cNvSpPr>
          <p:nvPr>
            <p:ph type="sldNum" sz="quarter" idx="12"/>
          </p:nvPr>
        </p:nvSpPr>
        <p:spPr>
          <a:xfrm>
            <a:off x="10796220" y="212696"/>
            <a:ext cx="987552" cy="244503"/>
          </a:xfrm>
        </p:spPr>
        <p:txBody>
          <a:bodyPr/>
          <a:lstStyle/>
          <a:p>
            <a:fld id="{48F63A3B-78C7-47BE-AE5E-E10140E04643}" type="slidenum">
              <a:rPr lang="en-US" smtClean="0"/>
              <a:pPr/>
              <a:t>37</a:t>
            </a:fld>
            <a:endParaRPr lang="en-US" dirty="0"/>
          </a:p>
        </p:txBody>
      </p:sp>
    </p:spTree>
    <p:extLst>
      <p:ext uri="{BB962C8B-B14F-4D97-AF65-F5344CB8AC3E}">
        <p14:creationId xmlns:p14="http://schemas.microsoft.com/office/powerpoint/2010/main" val="2578563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7B70-369C-BF38-5C8E-BB4E35631DE0}"/>
              </a:ext>
            </a:extLst>
          </p:cNvPr>
          <p:cNvSpPr>
            <a:spLocks noGrp="1"/>
          </p:cNvSpPr>
          <p:nvPr>
            <p:ph type="title"/>
          </p:nvPr>
        </p:nvSpPr>
        <p:spPr>
          <a:xfrm>
            <a:off x="4589453" y="3258608"/>
            <a:ext cx="5322191" cy="715082"/>
          </a:xfrm>
        </p:spPr>
        <p:txBody>
          <a:bodyPr/>
          <a:lstStyle/>
          <a:p>
            <a:r>
              <a:rPr lang="en-US" sz="4800" dirty="0"/>
              <a:t>Thank You</a:t>
            </a:r>
          </a:p>
        </p:txBody>
      </p:sp>
      <p:sp>
        <p:nvSpPr>
          <p:cNvPr id="7" name="Slide Number Placeholder 6">
            <a:extLst>
              <a:ext uri="{FF2B5EF4-FFF2-40B4-BE49-F238E27FC236}">
                <a16:creationId xmlns:a16="http://schemas.microsoft.com/office/drawing/2014/main" id="{BCB6753B-5231-7E83-FB0A-DDEDDA92E708}"/>
              </a:ext>
            </a:extLst>
          </p:cNvPr>
          <p:cNvSpPr>
            <a:spLocks noGrp="1"/>
          </p:cNvSpPr>
          <p:nvPr>
            <p:ph type="sldNum" sz="quarter" idx="10"/>
          </p:nvPr>
        </p:nvSpPr>
        <p:spPr/>
        <p:txBody>
          <a:bodyPr/>
          <a:lstStyle/>
          <a:p>
            <a:fld id="{48F63A3B-78C7-47BE-AE5E-E10140E04643}" type="slidenum">
              <a:rPr lang="en-US" smtClean="0"/>
              <a:pPr/>
              <a:t>38</a:t>
            </a:fld>
            <a:endParaRPr lang="en-US" dirty="0"/>
          </a:p>
        </p:txBody>
      </p:sp>
    </p:spTree>
    <p:extLst>
      <p:ext uri="{BB962C8B-B14F-4D97-AF65-F5344CB8AC3E}">
        <p14:creationId xmlns:p14="http://schemas.microsoft.com/office/powerpoint/2010/main" val="2780308483"/>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{2E0187FC-716F-4B27-8147-A111AE565B9D}tf78438558_win32</Template>
  <TotalTime>251</TotalTime>
  <Words>1531</Words>
  <Application>Microsoft Office PowerPoint</Application>
  <PresentationFormat>Widescreen</PresentationFormat>
  <Paragraphs>448</Paragraphs>
  <Slides>38</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Arial Black</vt:lpstr>
      <vt:lpstr>Calibri</vt:lpstr>
      <vt:lpstr>gg sans</vt:lpstr>
      <vt:lpstr>Sabon Next LT</vt:lpstr>
      <vt:lpstr>Custom</vt:lpstr>
      <vt:lpstr>Basic  presentation</vt:lpstr>
      <vt:lpstr>First the data cleaning</vt:lpstr>
      <vt:lpstr>Now the data is cleaned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reliability</vt:lpstr>
      <vt:lpstr>PowerPoint Presentation</vt:lpstr>
      <vt:lpstr>Regression</vt:lpstr>
      <vt:lpstr>Regression</vt:lpstr>
      <vt:lpstr>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farah osama</dc:creator>
  <cp:lastModifiedBy>farah osama</cp:lastModifiedBy>
  <cp:revision>8</cp:revision>
  <dcterms:created xsi:type="dcterms:W3CDTF">2025-11-18T16:25:12Z</dcterms:created>
  <dcterms:modified xsi:type="dcterms:W3CDTF">2025-11-19T00:38:45Z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